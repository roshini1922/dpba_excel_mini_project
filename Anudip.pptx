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ontserrat Bold" charset="1" panose="00000800000000000000"/>
      <p:regular r:id="rId20"/>
    </p:embeddedFont>
    <p:embeddedFont>
      <p:font typeface="Montserrat"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8813033"/>
            <a:ext cx="445267" cy="445267"/>
          </a:xfrm>
          <a:custGeom>
            <a:avLst/>
            <a:gdLst/>
            <a:ahLst/>
            <a:cxnLst/>
            <a:rect r="r" b="b" t="t" l="l"/>
            <a:pathLst>
              <a:path h="445267" w="445267">
                <a:moveTo>
                  <a:pt x="0" y="0"/>
                </a:moveTo>
                <a:lnTo>
                  <a:pt x="445267" y="0"/>
                </a:lnTo>
                <a:lnTo>
                  <a:pt x="445267" y="445267"/>
                </a:lnTo>
                <a:lnTo>
                  <a:pt x="0" y="445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208856"/>
            <a:ext cx="445267" cy="445267"/>
          </a:xfrm>
          <a:custGeom>
            <a:avLst/>
            <a:gdLst/>
            <a:ahLst/>
            <a:cxnLst/>
            <a:rect r="r" b="b" t="t" l="l"/>
            <a:pathLst>
              <a:path h="445267" w="445267">
                <a:moveTo>
                  <a:pt x="0" y="0"/>
                </a:moveTo>
                <a:lnTo>
                  <a:pt x="445267" y="0"/>
                </a:lnTo>
                <a:lnTo>
                  <a:pt x="445267" y="445267"/>
                </a:lnTo>
                <a:lnTo>
                  <a:pt x="0" y="445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1022" y="332076"/>
            <a:ext cx="880623" cy="696624"/>
          </a:xfrm>
          <a:custGeom>
            <a:avLst/>
            <a:gdLst/>
            <a:ahLst/>
            <a:cxnLst/>
            <a:rect r="r" b="b" t="t" l="l"/>
            <a:pathLst>
              <a:path h="696624" w="880623">
                <a:moveTo>
                  <a:pt x="0" y="0"/>
                </a:moveTo>
                <a:lnTo>
                  <a:pt x="880623" y="0"/>
                </a:lnTo>
                <a:lnTo>
                  <a:pt x="880623" y="696624"/>
                </a:lnTo>
                <a:lnTo>
                  <a:pt x="0" y="6966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6655123" y="8654123"/>
            <a:ext cx="604177" cy="6041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3E4437"/>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14138144" y="8654123"/>
            <a:ext cx="2284094" cy="604177"/>
            <a:chOff x="0" y="0"/>
            <a:chExt cx="3072796" cy="812800"/>
          </a:xfrm>
        </p:grpSpPr>
        <p:sp>
          <p:nvSpPr>
            <p:cNvPr name="Freeform 9" id="9"/>
            <p:cNvSpPr/>
            <p:nvPr/>
          </p:nvSpPr>
          <p:spPr>
            <a:xfrm flipH="false" flipV="false" rot="0">
              <a:off x="0" y="0"/>
              <a:ext cx="3072796" cy="812800"/>
            </a:xfrm>
            <a:custGeom>
              <a:avLst/>
              <a:gdLst/>
              <a:ahLst/>
              <a:cxnLst/>
              <a:rect r="r" b="b" t="t" l="l"/>
              <a:pathLst>
                <a:path h="812800" w="3072796">
                  <a:moveTo>
                    <a:pt x="0" y="0"/>
                  </a:moveTo>
                  <a:lnTo>
                    <a:pt x="3072796" y="0"/>
                  </a:lnTo>
                  <a:lnTo>
                    <a:pt x="3072796" y="812800"/>
                  </a:lnTo>
                  <a:lnTo>
                    <a:pt x="0" y="812800"/>
                  </a:lnTo>
                  <a:close/>
                </a:path>
              </a:pathLst>
            </a:custGeom>
            <a:solidFill>
              <a:srgbClr val="3E4437"/>
            </a:solidFill>
          </p:spPr>
        </p:sp>
        <p:sp>
          <p:nvSpPr>
            <p:cNvPr name="TextBox 10" id="10"/>
            <p:cNvSpPr txBox="true"/>
            <p:nvPr/>
          </p:nvSpPr>
          <p:spPr>
            <a:xfrm>
              <a:off x="0" y="-38100"/>
              <a:ext cx="3072796" cy="850900"/>
            </a:xfrm>
            <a:prstGeom prst="rect">
              <a:avLst/>
            </a:prstGeom>
          </p:spPr>
          <p:txBody>
            <a:bodyPr anchor="ctr" rtlCol="false" tIns="50800" lIns="50800" bIns="50800" rIns="50800"/>
            <a:lstStyle/>
            <a:p>
              <a:pPr algn="ctr">
                <a:lnSpc>
                  <a:spcPts val="2940"/>
                </a:lnSpc>
              </a:pPr>
            </a:p>
          </p:txBody>
        </p:sp>
      </p:grpSp>
      <p:grpSp>
        <p:nvGrpSpPr>
          <p:cNvPr name="Group 11" id="11"/>
          <p:cNvGrpSpPr/>
          <p:nvPr/>
        </p:nvGrpSpPr>
        <p:grpSpPr>
          <a:xfrm rot="0">
            <a:off x="10833167" y="5404919"/>
            <a:ext cx="2006783" cy="5284024"/>
            <a:chOff x="0" y="0"/>
            <a:chExt cx="528535" cy="1391677"/>
          </a:xfrm>
        </p:grpSpPr>
        <p:sp>
          <p:nvSpPr>
            <p:cNvPr name="Freeform 12" id="12"/>
            <p:cNvSpPr/>
            <p:nvPr/>
          </p:nvSpPr>
          <p:spPr>
            <a:xfrm flipH="false" flipV="false" rot="0">
              <a:off x="0" y="0"/>
              <a:ext cx="528535" cy="1391677"/>
            </a:xfrm>
            <a:custGeom>
              <a:avLst/>
              <a:gdLst/>
              <a:ahLst/>
              <a:cxnLst/>
              <a:rect r="r" b="b" t="t" l="l"/>
              <a:pathLst>
                <a:path h="1391677" w="528535">
                  <a:moveTo>
                    <a:pt x="0" y="0"/>
                  </a:moveTo>
                  <a:lnTo>
                    <a:pt x="528535" y="0"/>
                  </a:lnTo>
                  <a:lnTo>
                    <a:pt x="528535" y="1391677"/>
                  </a:lnTo>
                  <a:lnTo>
                    <a:pt x="0" y="1391677"/>
                  </a:lnTo>
                  <a:close/>
                </a:path>
              </a:pathLst>
            </a:custGeom>
            <a:solidFill>
              <a:srgbClr val="3E4437"/>
            </a:solidFill>
          </p:spPr>
        </p:sp>
        <p:sp>
          <p:nvSpPr>
            <p:cNvPr name="TextBox 13" id="13"/>
            <p:cNvSpPr txBox="true"/>
            <p:nvPr/>
          </p:nvSpPr>
          <p:spPr>
            <a:xfrm>
              <a:off x="0" y="-38100"/>
              <a:ext cx="528535" cy="1429777"/>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1311458" y="-514350"/>
            <a:ext cx="1889189" cy="7218697"/>
            <a:chOff x="0" y="0"/>
            <a:chExt cx="497564" cy="1901221"/>
          </a:xfrm>
        </p:grpSpPr>
        <p:sp>
          <p:nvSpPr>
            <p:cNvPr name="Freeform 15" id="15"/>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16" id="16"/>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Freeform 17" id="17"/>
          <p:cNvSpPr/>
          <p:nvPr/>
        </p:nvSpPr>
        <p:spPr>
          <a:xfrm flipH="false" flipV="false" rot="0">
            <a:off x="10833167" y="998523"/>
            <a:ext cx="6969109" cy="5398468"/>
          </a:xfrm>
          <a:custGeom>
            <a:avLst/>
            <a:gdLst/>
            <a:ahLst/>
            <a:cxnLst/>
            <a:rect r="r" b="b" t="t" l="l"/>
            <a:pathLst>
              <a:path h="5398468" w="6969109">
                <a:moveTo>
                  <a:pt x="0" y="0"/>
                </a:moveTo>
                <a:lnTo>
                  <a:pt x="6969108" y="0"/>
                </a:lnTo>
                <a:lnTo>
                  <a:pt x="6969108" y="5398467"/>
                </a:lnTo>
                <a:lnTo>
                  <a:pt x="0" y="5398467"/>
                </a:lnTo>
                <a:lnTo>
                  <a:pt x="0" y="0"/>
                </a:lnTo>
                <a:close/>
              </a:path>
            </a:pathLst>
          </a:custGeom>
          <a:blipFill>
            <a:blip r:embed="rId8"/>
            <a:stretch>
              <a:fillRect l="0" t="0" r="-18135" b="-1702"/>
            </a:stretch>
          </a:blipFill>
        </p:spPr>
      </p:sp>
      <p:sp>
        <p:nvSpPr>
          <p:cNvPr name="TextBox 18" id="18"/>
          <p:cNvSpPr txBox="true"/>
          <p:nvPr/>
        </p:nvSpPr>
        <p:spPr>
          <a:xfrm rot="0">
            <a:off x="667728" y="2043834"/>
            <a:ext cx="10394332" cy="2803413"/>
          </a:xfrm>
          <a:prstGeom prst="rect">
            <a:avLst/>
          </a:prstGeom>
        </p:spPr>
        <p:txBody>
          <a:bodyPr anchor="t" rtlCol="false" tIns="0" lIns="0" bIns="0" rIns="0">
            <a:spAutoFit/>
          </a:bodyPr>
          <a:lstStyle/>
          <a:p>
            <a:pPr algn="l">
              <a:lnSpc>
                <a:spcPts val="11249"/>
              </a:lnSpc>
            </a:pPr>
            <a:r>
              <a:rPr lang="en-US" sz="8035" b="true">
                <a:solidFill>
                  <a:srgbClr val="3E4437"/>
                </a:solidFill>
                <a:latin typeface="Montserrat Bold"/>
                <a:ea typeface="Montserrat Bold"/>
                <a:cs typeface="Montserrat Bold"/>
                <a:sym typeface="Montserrat Bold"/>
              </a:rPr>
              <a:t>FITNESS TRACKER</a:t>
            </a:r>
          </a:p>
          <a:p>
            <a:pPr algn="l">
              <a:lnSpc>
                <a:spcPts val="11249"/>
              </a:lnSpc>
              <a:spcBef>
                <a:spcPct val="0"/>
              </a:spcBef>
            </a:pPr>
          </a:p>
        </p:txBody>
      </p:sp>
      <p:sp>
        <p:nvSpPr>
          <p:cNvPr name="TextBox 19" id="19"/>
          <p:cNvSpPr txBox="true"/>
          <p:nvPr/>
        </p:nvSpPr>
        <p:spPr>
          <a:xfrm rot="0">
            <a:off x="1856096" y="3145661"/>
            <a:ext cx="8545162" cy="1349566"/>
          </a:xfrm>
          <a:prstGeom prst="rect">
            <a:avLst/>
          </a:prstGeom>
        </p:spPr>
        <p:txBody>
          <a:bodyPr anchor="t" rtlCol="false" tIns="0" lIns="0" bIns="0" rIns="0">
            <a:spAutoFit/>
          </a:bodyPr>
          <a:lstStyle/>
          <a:p>
            <a:pPr algn="l">
              <a:lnSpc>
                <a:spcPts val="11007"/>
              </a:lnSpc>
              <a:spcBef>
                <a:spcPct val="0"/>
              </a:spcBef>
            </a:pPr>
            <a:r>
              <a:rPr lang="en-US" b="true" sz="7862">
                <a:solidFill>
                  <a:srgbClr val="3E4437"/>
                </a:solidFill>
                <a:latin typeface="Montserrat Bold"/>
                <a:ea typeface="Montserrat Bold"/>
                <a:cs typeface="Montserrat Bold"/>
                <a:sym typeface="Montserrat Bold"/>
              </a:rPr>
              <a:t>DASHBOARD</a:t>
            </a:r>
          </a:p>
        </p:txBody>
      </p:sp>
      <p:sp>
        <p:nvSpPr>
          <p:cNvPr name="TextBox 20" id="20"/>
          <p:cNvSpPr txBox="true"/>
          <p:nvPr/>
        </p:nvSpPr>
        <p:spPr>
          <a:xfrm rot="0">
            <a:off x="667728" y="4428552"/>
            <a:ext cx="5556590" cy="580390"/>
          </a:xfrm>
          <a:prstGeom prst="rect">
            <a:avLst/>
          </a:prstGeom>
        </p:spPr>
        <p:txBody>
          <a:bodyPr anchor="t" rtlCol="false" tIns="0" lIns="0" bIns="0" rIns="0">
            <a:spAutoFit/>
          </a:bodyPr>
          <a:lstStyle/>
          <a:p>
            <a:pPr algn="l">
              <a:lnSpc>
                <a:spcPts val="4759"/>
              </a:lnSpc>
              <a:spcBef>
                <a:spcPct val="0"/>
              </a:spcBef>
            </a:pPr>
            <a:r>
              <a:rPr lang="en-US" sz="3399">
                <a:solidFill>
                  <a:srgbClr val="3E4437"/>
                </a:solidFill>
                <a:latin typeface="Montserrat"/>
                <a:ea typeface="Montserrat"/>
                <a:cs typeface="Montserrat"/>
                <a:sym typeface="Montserrat"/>
              </a:rPr>
              <a:t>Track Your Fitness</a:t>
            </a:r>
          </a:p>
        </p:txBody>
      </p:sp>
      <p:sp>
        <p:nvSpPr>
          <p:cNvPr name="TextBox 21" id="21"/>
          <p:cNvSpPr txBox="true"/>
          <p:nvPr/>
        </p:nvSpPr>
        <p:spPr>
          <a:xfrm rot="0">
            <a:off x="1691645" y="642288"/>
            <a:ext cx="2935919" cy="356235"/>
          </a:xfrm>
          <a:prstGeom prst="rect">
            <a:avLst/>
          </a:prstGeom>
        </p:spPr>
        <p:txBody>
          <a:bodyPr anchor="t" rtlCol="false" tIns="0" lIns="0" bIns="0" rIns="0">
            <a:spAutoFit/>
          </a:bodyPr>
          <a:lstStyle/>
          <a:p>
            <a:pPr algn="l">
              <a:lnSpc>
                <a:spcPts val="2940"/>
              </a:lnSpc>
              <a:spcBef>
                <a:spcPct val="0"/>
              </a:spcBef>
            </a:pPr>
            <a:r>
              <a:rPr lang="en-US" sz="2100" b="true">
                <a:solidFill>
                  <a:srgbClr val="3E4437"/>
                </a:solidFill>
                <a:latin typeface="Montserrat Bold"/>
                <a:ea typeface="Montserrat Bold"/>
                <a:cs typeface="Montserrat Bold"/>
                <a:sym typeface="Montserrat Bold"/>
              </a:rPr>
              <a:t>Anudip</a:t>
            </a:r>
          </a:p>
        </p:txBody>
      </p:sp>
      <p:sp>
        <p:nvSpPr>
          <p:cNvPr name="TextBox 22" id="22"/>
          <p:cNvSpPr txBox="true"/>
          <p:nvPr/>
        </p:nvSpPr>
        <p:spPr>
          <a:xfrm rot="0">
            <a:off x="1691645" y="8838499"/>
            <a:ext cx="4219354" cy="356235"/>
          </a:xfrm>
          <a:prstGeom prst="rect">
            <a:avLst/>
          </a:prstGeom>
        </p:spPr>
        <p:txBody>
          <a:bodyPr anchor="t" rtlCol="false" tIns="0" lIns="0" bIns="0" rIns="0">
            <a:spAutoFit/>
          </a:bodyPr>
          <a:lstStyle/>
          <a:p>
            <a:pPr algn="just">
              <a:lnSpc>
                <a:spcPts val="2940"/>
              </a:lnSpc>
              <a:spcBef>
                <a:spcPct val="0"/>
              </a:spcBef>
            </a:pPr>
            <a:r>
              <a:rPr lang="en-US" b="true" sz="2100">
                <a:solidFill>
                  <a:srgbClr val="3E4437"/>
                </a:solidFill>
                <a:latin typeface="Montserrat Bold"/>
                <a:ea typeface="Montserrat Bold"/>
                <a:cs typeface="Montserrat Bold"/>
                <a:sym typeface="Montserrat Bold"/>
              </a:rPr>
              <a:t>roshinir989@gmail.com</a:t>
            </a:r>
          </a:p>
        </p:txBody>
      </p:sp>
      <p:sp>
        <p:nvSpPr>
          <p:cNvPr name="TextBox 23" id="23"/>
          <p:cNvSpPr txBox="true"/>
          <p:nvPr/>
        </p:nvSpPr>
        <p:spPr>
          <a:xfrm rot="0">
            <a:off x="1691645" y="8297888"/>
            <a:ext cx="4219354" cy="356235"/>
          </a:xfrm>
          <a:prstGeom prst="rect">
            <a:avLst/>
          </a:prstGeom>
        </p:spPr>
        <p:txBody>
          <a:bodyPr anchor="t" rtlCol="false" tIns="0" lIns="0" bIns="0" rIns="0">
            <a:spAutoFit/>
          </a:bodyPr>
          <a:lstStyle/>
          <a:p>
            <a:pPr algn="just">
              <a:lnSpc>
                <a:spcPts val="2940"/>
              </a:lnSpc>
              <a:spcBef>
                <a:spcPct val="0"/>
              </a:spcBef>
            </a:pPr>
            <a:r>
              <a:rPr lang="en-US" b="true" sz="2100">
                <a:solidFill>
                  <a:srgbClr val="3E4437"/>
                </a:solidFill>
                <a:latin typeface="Montserrat Bold"/>
                <a:ea typeface="Montserrat Bold"/>
                <a:cs typeface="Montserrat Bold"/>
                <a:sym typeface="Montserrat Bold"/>
              </a:rPr>
              <a:t>9342666413</a:t>
            </a:r>
          </a:p>
        </p:txBody>
      </p:sp>
      <p:sp>
        <p:nvSpPr>
          <p:cNvPr name="TextBox 24" id="24"/>
          <p:cNvSpPr txBox="true"/>
          <p:nvPr/>
        </p:nvSpPr>
        <p:spPr>
          <a:xfrm rot="0">
            <a:off x="14013166" y="1104766"/>
            <a:ext cx="1533021"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3E4437"/>
                </a:solidFill>
                <a:latin typeface="Montserrat Bold"/>
                <a:ea typeface="Montserrat Bold"/>
                <a:cs typeface="Montserrat Bold"/>
                <a:sym typeface="Montserrat Bold"/>
              </a:rPr>
              <a:t>About</a:t>
            </a:r>
          </a:p>
        </p:txBody>
      </p:sp>
      <p:sp>
        <p:nvSpPr>
          <p:cNvPr name="TextBox 25" id="25"/>
          <p:cNvSpPr txBox="true"/>
          <p:nvPr/>
        </p:nvSpPr>
        <p:spPr>
          <a:xfrm rot="0">
            <a:off x="14138144" y="8759044"/>
            <a:ext cx="2284094"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FFFFFF"/>
                </a:solidFill>
                <a:latin typeface="Montserrat Bold"/>
                <a:ea typeface="Montserrat Bold"/>
                <a:cs typeface="Montserrat Bold"/>
                <a:sym typeface="Montserrat Bold"/>
              </a:rPr>
              <a:t>START SLIDE</a:t>
            </a:r>
          </a:p>
        </p:txBody>
      </p:sp>
      <p:sp>
        <p:nvSpPr>
          <p:cNvPr name="TextBox 26" id="26"/>
          <p:cNvSpPr txBox="true"/>
          <p:nvPr/>
        </p:nvSpPr>
        <p:spPr>
          <a:xfrm rot="0">
            <a:off x="16655123" y="8759044"/>
            <a:ext cx="604177"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FFFFFF"/>
                </a:solidFill>
                <a:latin typeface="Montserrat Bold"/>
                <a:ea typeface="Montserrat Bold"/>
                <a:cs typeface="Montserrat Bold"/>
                <a:sym typeface="Montserrat Bold"/>
              </a:rPr>
              <a:t>01</a:t>
            </a:r>
          </a:p>
        </p:txBody>
      </p:sp>
      <p:sp>
        <p:nvSpPr>
          <p:cNvPr name="TextBox 27" id="27"/>
          <p:cNvSpPr txBox="true"/>
          <p:nvPr/>
        </p:nvSpPr>
        <p:spPr>
          <a:xfrm rot="0">
            <a:off x="15818061" y="1104766"/>
            <a:ext cx="1441239"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3E4437"/>
                </a:solidFill>
                <a:latin typeface="Montserrat Bold"/>
                <a:ea typeface="Montserrat Bold"/>
                <a:cs typeface="Montserrat Bold"/>
                <a:sym typeface="Montserrat Bold"/>
              </a:rPr>
              <a:t>Contact</a:t>
            </a:r>
          </a:p>
        </p:txBody>
      </p:sp>
      <p:sp>
        <p:nvSpPr>
          <p:cNvPr name="TextBox 28" id="28"/>
          <p:cNvSpPr txBox="true"/>
          <p:nvPr/>
        </p:nvSpPr>
        <p:spPr>
          <a:xfrm rot="0">
            <a:off x="12295702" y="1104766"/>
            <a:ext cx="1441239"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3E4437"/>
                </a:solidFill>
                <a:latin typeface="Montserrat Bold"/>
                <a:ea typeface="Montserrat Bold"/>
                <a:cs typeface="Montserrat Bold"/>
                <a:sym typeface="Montserrat Bold"/>
              </a:rPr>
              <a:t>Home</a:t>
            </a:r>
          </a:p>
        </p:txBody>
      </p:sp>
      <p:sp>
        <p:nvSpPr>
          <p:cNvPr name="TextBox 29" id="29"/>
          <p:cNvSpPr txBox="true"/>
          <p:nvPr/>
        </p:nvSpPr>
        <p:spPr>
          <a:xfrm rot="0">
            <a:off x="1028700" y="7574373"/>
            <a:ext cx="1880373" cy="472558"/>
          </a:xfrm>
          <a:prstGeom prst="rect">
            <a:avLst/>
          </a:prstGeom>
        </p:spPr>
        <p:txBody>
          <a:bodyPr anchor="t" rtlCol="false" tIns="0" lIns="0" bIns="0" rIns="0">
            <a:spAutoFit/>
          </a:bodyPr>
          <a:lstStyle/>
          <a:p>
            <a:pPr algn="ctr">
              <a:lnSpc>
                <a:spcPts val="3838"/>
              </a:lnSpc>
              <a:spcBef>
                <a:spcPct val="0"/>
              </a:spcBef>
            </a:pPr>
            <a:r>
              <a:rPr lang="en-US" b="true" sz="2742">
                <a:solidFill>
                  <a:srgbClr val="3E4437"/>
                </a:solidFill>
                <a:latin typeface="Montserrat Bold"/>
                <a:ea typeface="Montserrat Bold"/>
                <a:cs typeface="Montserrat Bold"/>
                <a:sym typeface="Montserrat Bold"/>
              </a:rPr>
              <a:t>ROSHINI.S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2569020" y="5143500"/>
            <a:ext cx="2006783" cy="5284024"/>
            <a:chOff x="0" y="0"/>
            <a:chExt cx="528535" cy="1391677"/>
          </a:xfrm>
        </p:grpSpPr>
        <p:sp>
          <p:nvSpPr>
            <p:cNvPr name="Freeform 6" id="6"/>
            <p:cNvSpPr/>
            <p:nvPr/>
          </p:nvSpPr>
          <p:spPr>
            <a:xfrm flipH="false" flipV="false" rot="0">
              <a:off x="0" y="0"/>
              <a:ext cx="528535" cy="1391677"/>
            </a:xfrm>
            <a:custGeom>
              <a:avLst/>
              <a:gdLst/>
              <a:ahLst/>
              <a:cxnLst/>
              <a:rect r="r" b="b" t="t" l="l"/>
              <a:pathLst>
                <a:path h="1391677" w="528535">
                  <a:moveTo>
                    <a:pt x="0" y="0"/>
                  </a:moveTo>
                  <a:lnTo>
                    <a:pt x="528535" y="0"/>
                  </a:lnTo>
                  <a:lnTo>
                    <a:pt x="528535" y="1391677"/>
                  </a:lnTo>
                  <a:lnTo>
                    <a:pt x="0" y="1391677"/>
                  </a:lnTo>
                  <a:close/>
                </a:path>
              </a:pathLst>
            </a:custGeom>
            <a:solidFill>
              <a:srgbClr val="3E4437"/>
            </a:solidFill>
          </p:spPr>
        </p:sp>
        <p:sp>
          <p:nvSpPr>
            <p:cNvPr name="TextBox 7" id="7"/>
            <p:cNvSpPr txBox="true"/>
            <p:nvPr/>
          </p:nvSpPr>
          <p:spPr>
            <a:xfrm>
              <a:off x="0" y="-38100"/>
              <a:ext cx="528535" cy="1429777"/>
            </a:xfrm>
            <a:prstGeom prst="rect">
              <a:avLst/>
            </a:prstGeom>
          </p:spPr>
          <p:txBody>
            <a:bodyPr anchor="ctr" rtlCol="false" tIns="50800" lIns="50800" bIns="50800" rIns="50800"/>
            <a:lstStyle/>
            <a:p>
              <a:pPr algn="ctr">
                <a:lnSpc>
                  <a:spcPts val="2940"/>
                </a:lnSpc>
              </a:pPr>
            </a:p>
          </p:txBody>
        </p:sp>
      </p:grpSp>
      <p:sp>
        <p:nvSpPr>
          <p:cNvPr name="TextBox 8" id="8"/>
          <p:cNvSpPr txBox="true"/>
          <p:nvPr/>
        </p:nvSpPr>
        <p:spPr>
          <a:xfrm rot="0">
            <a:off x="1028700" y="2476014"/>
            <a:ext cx="11022760" cy="4884957"/>
          </a:xfrm>
          <a:prstGeom prst="rect">
            <a:avLst/>
          </a:prstGeom>
        </p:spPr>
        <p:txBody>
          <a:bodyPr anchor="t" rtlCol="false" tIns="0" lIns="0" bIns="0" rIns="0">
            <a:spAutoFit/>
          </a:bodyPr>
          <a:lstStyle/>
          <a:p>
            <a:pPr algn="just">
              <a:lnSpc>
                <a:spcPts val="4846"/>
              </a:lnSpc>
              <a:spcBef>
                <a:spcPct val="0"/>
              </a:spcBef>
            </a:pPr>
            <a:r>
              <a:rPr lang="en-US" b="true" sz="3461">
                <a:solidFill>
                  <a:srgbClr val="3E4437"/>
                </a:solidFill>
                <a:latin typeface="Montserrat Bold"/>
                <a:ea typeface="Montserrat Bold"/>
                <a:cs typeface="Montserrat Bold"/>
                <a:sym typeface="Montserrat Bold"/>
              </a:rPr>
              <a:t>A Fitness Tracker Dashboard is a data visualization tool used to monitor and analyze daily fitness activities. It provides useful information about steps, calories burned, workout duration, sleep, heart rate, water intake, and stress levels. The dashboard helps users understand their fitness patterns and track their progress toward their fitness goals.</a:t>
            </a:r>
          </a:p>
        </p:txBody>
      </p:sp>
      <p:sp>
        <p:nvSpPr>
          <p:cNvPr name="Freeform 9" id="9"/>
          <p:cNvSpPr/>
          <p:nvPr/>
        </p:nvSpPr>
        <p:spPr>
          <a:xfrm flipH="false" flipV="false" rot="0">
            <a:off x="12569020" y="1439090"/>
            <a:ext cx="5718980" cy="5143500"/>
          </a:xfrm>
          <a:custGeom>
            <a:avLst/>
            <a:gdLst/>
            <a:ahLst/>
            <a:cxnLst/>
            <a:rect r="r" b="b" t="t" l="l"/>
            <a:pathLst>
              <a:path h="5143500" w="5718980">
                <a:moveTo>
                  <a:pt x="0" y="0"/>
                </a:moveTo>
                <a:lnTo>
                  <a:pt x="5718980" y="0"/>
                </a:lnTo>
                <a:lnTo>
                  <a:pt x="5718980" y="5143500"/>
                </a:lnTo>
                <a:lnTo>
                  <a:pt x="0" y="5143500"/>
                </a:lnTo>
                <a:lnTo>
                  <a:pt x="0" y="0"/>
                </a:lnTo>
                <a:close/>
              </a:path>
            </a:pathLst>
          </a:custGeom>
          <a:blipFill>
            <a:blip r:embed="rId2"/>
            <a:stretch>
              <a:fillRect l="-10818" t="0" r="-26680" b="-6730"/>
            </a:stretch>
          </a:blipFill>
        </p:spPr>
      </p:sp>
      <p:sp>
        <p:nvSpPr>
          <p:cNvPr name="TextBox 10" id="10"/>
          <p:cNvSpPr txBox="true"/>
          <p:nvPr/>
        </p:nvSpPr>
        <p:spPr>
          <a:xfrm rot="0">
            <a:off x="1028700" y="694012"/>
            <a:ext cx="10394332" cy="1218932"/>
          </a:xfrm>
          <a:prstGeom prst="rect">
            <a:avLst/>
          </a:prstGeom>
        </p:spPr>
        <p:txBody>
          <a:bodyPr anchor="t" rtlCol="false" tIns="0" lIns="0" bIns="0" rIns="0">
            <a:spAutoFit/>
          </a:bodyPr>
          <a:lstStyle/>
          <a:p>
            <a:pPr algn="l">
              <a:lnSpc>
                <a:spcPts val="9989"/>
              </a:lnSpc>
              <a:spcBef>
                <a:spcPct val="0"/>
              </a:spcBef>
            </a:pPr>
            <a:r>
              <a:rPr lang="en-US" b="true" sz="7135">
                <a:solidFill>
                  <a:srgbClr val="3E4437"/>
                </a:solidFill>
                <a:latin typeface="Montserrat Bold"/>
                <a:ea typeface="Montserrat Bold"/>
                <a:cs typeface="Montserrat Bold"/>
                <a:sym typeface="Montserrat Bold"/>
              </a:rPr>
              <a:t>INTRODUCTION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4575803" y="5307656"/>
            <a:ext cx="2006783" cy="5284024"/>
            <a:chOff x="0" y="0"/>
            <a:chExt cx="528535" cy="1391677"/>
          </a:xfrm>
        </p:grpSpPr>
        <p:sp>
          <p:nvSpPr>
            <p:cNvPr name="Freeform 6" id="6"/>
            <p:cNvSpPr/>
            <p:nvPr/>
          </p:nvSpPr>
          <p:spPr>
            <a:xfrm flipH="false" flipV="false" rot="0">
              <a:off x="0" y="0"/>
              <a:ext cx="528535" cy="1391677"/>
            </a:xfrm>
            <a:custGeom>
              <a:avLst/>
              <a:gdLst/>
              <a:ahLst/>
              <a:cxnLst/>
              <a:rect r="r" b="b" t="t" l="l"/>
              <a:pathLst>
                <a:path h="1391677" w="528535">
                  <a:moveTo>
                    <a:pt x="0" y="0"/>
                  </a:moveTo>
                  <a:lnTo>
                    <a:pt x="528535" y="0"/>
                  </a:lnTo>
                  <a:lnTo>
                    <a:pt x="528535" y="1391677"/>
                  </a:lnTo>
                  <a:lnTo>
                    <a:pt x="0" y="1391677"/>
                  </a:lnTo>
                  <a:close/>
                </a:path>
              </a:pathLst>
            </a:custGeom>
            <a:solidFill>
              <a:srgbClr val="3E4437"/>
            </a:solidFill>
          </p:spPr>
        </p:sp>
        <p:sp>
          <p:nvSpPr>
            <p:cNvPr name="TextBox 7" id="7"/>
            <p:cNvSpPr txBox="true"/>
            <p:nvPr/>
          </p:nvSpPr>
          <p:spPr>
            <a:xfrm>
              <a:off x="0" y="-38100"/>
              <a:ext cx="528535" cy="1429777"/>
            </a:xfrm>
            <a:prstGeom prst="rect">
              <a:avLst/>
            </a:prstGeom>
          </p:spPr>
          <p:txBody>
            <a:bodyPr anchor="ctr" rtlCol="false" tIns="50800" lIns="50800" bIns="50800" rIns="50800"/>
            <a:lstStyle/>
            <a:p>
              <a:pPr algn="ctr">
                <a:lnSpc>
                  <a:spcPts val="2940"/>
                </a:lnSpc>
              </a:pPr>
            </a:p>
          </p:txBody>
        </p:sp>
      </p:grpSp>
      <p:sp>
        <p:nvSpPr>
          <p:cNvPr name="TextBox 8" id="8"/>
          <p:cNvSpPr txBox="true"/>
          <p:nvPr/>
        </p:nvSpPr>
        <p:spPr>
          <a:xfrm rot="0">
            <a:off x="1028700" y="565525"/>
            <a:ext cx="12674938" cy="2752363"/>
          </a:xfrm>
          <a:prstGeom prst="rect">
            <a:avLst/>
          </a:prstGeom>
        </p:spPr>
        <p:txBody>
          <a:bodyPr anchor="t" rtlCol="false" tIns="0" lIns="0" bIns="0" rIns="0">
            <a:spAutoFit/>
          </a:bodyPr>
          <a:lstStyle/>
          <a:p>
            <a:pPr algn="l">
              <a:lnSpc>
                <a:spcPts val="11044"/>
              </a:lnSpc>
            </a:pPr>
            <a:r>
              <a:rPr lang="en-US" sz="7889" b="true">
                <a:solidFill>
                  <a:srgbClr val="3E4437"/>
                </a:solidFill>
                <a:latin typeface="Montserrat Bold"/>
                <a:ea typeface="Montserrat Bold"/>
                <a:cs typeface="Montserrat Bold"/>
                <a:sym typeface="Montserrat Bold"/>
              </a:rPr>
              <a:t>DATASET OVERVIEW</a:t>
            </a:r>
          </a:p>
          <a:p>
            <a:pPr algn="l">
              <a:lnSpc>
                <a:spcPts val="11044"/>
              </a:lnSpc>
              <a:spcBef>
                <a:spcPct val="0"/>
              </a:spcBef>
            </a:pPr>
          </a:p>
        </p:txBody>
      </p:sp>
      <p:sp>
        <p:nvSpPr>
          <p:cNvPr name="TextBox 9" id="9"/>
          <p:cNvSpPr txBox="true"/>
          <p:nvPr/>
        </p:nvSpPr>
        <p:spPr>
          <a:xfrm rot="0">
            <a:off x="1028700" y="2304021"/>
            <a:ext cx="28945172" cy="5055571"/>
          </a:xfrm>
          <a:prstGeom prst="rect">
            <a:avLst/>
          </a:prstGeom>
        </p:spPr>
        <p:txBody>
          <a:bodyPr anchor="t" rtlCol="false" tIns="0" lIns="0" bIns="0" rIns="0">
            <a:spAutoFit/>
          </a:bodyPr>
          <a:lstStyle/>
          <a:p>
            <a:pPr algn="l">
              <a:lnSpc>
                <a:spcPts val="5747"/>
              </a:lnSpc>
            </a:pPr>
            <a:r>
              <a:rPr lang="en-US" sz="4105" b="true">
                <a:solidFill>
                  <a:srgbClr val="3E4437"/>
                </a:solidFill>
                <a:latin typeface="Montserrat Bold"/>
                <a:ea typeface="Montserrat Bold"/>
                <a:cs typeface="Montserrat Bold"/>
                <a:sym typeface="Montserrat Bold"/>
              </a:rPr>
              <a:t> . User Details:  User_ID, Date, Age, Gender</a:t>
            </a:r>
          </a:p>
          <a:p>
            <a:pPr algn="l">
              <a:lnSpc>
                <a:spcPts val="5747"/>
              </a:lnSpc>
            </a:pPr>
            <a:r>
              <a:rPr lang="en-US" sz="4105" b="true">
                <a:solidFill>
                  <a:srgbClr val="3E4437"/>
                </a:solidFill>
                <a:latin typeface="Montserrat Bold"/>
                <a:ea typeface="Montserrat Bold"/>
                <a:cs typeface="Montserrat Bold"/>
                <a:sym typeface="Montserrat Bold"/>
              </a:rPr>
              <a:t> . </a:t>
            </a:r>
            <a:r>
              <a:rPr lang="en-US" sz="4105" b="true">
                <a:solidFill>
                  <a:srgbClr val="3E4437"/>
                </a:solidFill>
                <a:latin typeface="Montserrat Bold"/>
                <a:ea typeface="Montserrat Bold"/>
                <a:cs typeface="Montserrat Bold"/>
                <a:sym typeface="Montserrat Bold"/>
              </a:rPr>
              <a:t>Activity:  Daily_Steps, Active_Minutes, Distance_KM</a:t>
            </a:r>
          </a:p>
          <a:p>
            <a:pPr algn="l">
              <a:lnSpc>
                <a:spcPts val="5747"/>
              </a:lnSpc>
            </a:pPr>
            <a:r>
              <a:rPr lang="en-US" sz="4105" b="true">
                <a:solidFill>
                  <a:srgbClr val="3E4437"/>
                </a:solidFill>
                <a:latin typeface="Montserrat Bold"/>
                <a:ea typeface="Montserrat Bold"/>
                <a:cs typeface="Montserrat Bold"/>
                <a:sym typeface="Montserrat Bold"/>
              </a:rPr>
              <a:t> . </a:t>
            </a:r>
            <a:r>
              <a:rPr lang="en-US" sz="4105" b="true">
                <a:solidFill>
                  <a:srgbClr val="3E4437"/>
                </a:solidFill>
                <a:latin typeface="Montserrat Bold"/>
                <a:ea typeface="Montserrat Bold"/>
                <a:cs typeface="Montserrat Bold"/>
                <a:sym typeface="Montserrat Bold"/>
              </a:rPr>
              <a:t>Health:  Calories_Burned, Heart_Rate_Avg, Sleep_Hours</a:t>
            </a:r>
          </a:p>
          <a:p>
            <a:pPr algn="l">
              <a:lnSpc>
                <a:spcPts val="5747"/>
              </a:lnSpc>
            </a:pPr>
            <a:r>
              <a:rPr lang="en-US" sz="4105" b="true">
                <a:solidFill>
                  <a:srgbClr val="3E4437"/>
                </a:solidFill>
                <a:latin typeface="Montserrat Bold"/>
                <a:ea typeface="Montserrat Bold"/>
                <a:cs typeface="Montserrat Bold"/>
                <a:sym typeface="Montserrat Bold"/>
              </a:rPr>
              <a:t> . </a:t>
            </a:r>
            <a:r>
              <a:rPr lang="en-US" sz="4105" b="true">
                <a:solidFill>
                  <a:srgbClr val="3E4437"/>
                </a:solidFill>
                <a:latin typeface="Montserrat Bold"/>
                <a:ea typeface="Montserrat Bold"/>
                <a:cs typeface="Montserrat Bold"/>
                <a:sym typeface="Montserrat Bold"/>
              </a:rPr>
              <a:t>Workout:  Workout_Type, Workout_Duration_Min</a:t>
            </a:r>
          </a:p>
          <a:p>
            <a:pPr algn="l">
              <a:lnSpc>
                <a:spcPts val="5747"/>
              </a:lnSpc>
            </a:pPr>
            <a:r>
              <a:rPr lang="en-US" sz="4105" b="true">
                <a:solidFill>
                  <a:srgbClr val="3E4437"/>
                </a:solidFill>
                <a:latin typeface="Montserrat Bold"/>
                <a:ea typeface="Montserrat Bold"/>
                <a:cs typeface="Montserrat Bold"/>
                <a:sym typeface="Montserrat Bold"/>
              </a:rPr>
              <a:t> . </a:t>
            </a:r>
            <a:r>
              <a:rPr lang="en-US" sz="4105" b="true">
                <a:solidFill>
                  <a:srgbClr val="3E4437"/>
                </a:solidFill>
                <a:latin typeface="Montserrat Bold"/>
                <a:ea typeface="Montserrat Bold"/>
                <a:cs typeface="Montserrat Bold"/>
                <a:sym typeface="Montserrat Bold"/>
              </a:rPr>
              <a:t>Lifestyle:  Water_Intake_L, Stress_Level</a:t>
            </a:r>
          </a:p>
          <a:p>
            <a:pPr algn="l">
              <a:lnSpc>
                <a:spcPts val="5747"/>
              </a:lnSpc>
            </a:pPr>
            <a:r>
              <a:rPr lang="en-US" sz="4105" b="true">
                <a:solidFill>
                  <a:srgbClr val="3E4437"/>
                </a:solidFill>
                <a:latin typeface="Montserrat Bold"/>
                <a:ea typeface="Montserrat Bold"/>
                <a:cs typeface="Montserrat Bold"/>
                <a:sym typeface="Montserrat Bold"/>
              </a:rPr>
              <a:t> . </a:t>
            </a:r>
            <a:r>
              <a:rPr lang="en-US" sz="4105" b="true">
                <a:solidFill>
                  <a:srgbClr val="3E4437"/>
                </a:solidFill>
                <a:latin typeface="Montserrat Bold"/>
                <a:ea typeface="Montserrat Bold"/>
                <a:cs typeface="Montserrat Bold"/>
                <a:sym typeface="Montserrat Bold"/>
              </a:rPr>
              <a:t>Goal:  Fitness_Goal</a:t>
            </a:r>
          </a:p>
          <a:p>
            <a:pPr algn="l">
              <a:lnSpc>
                <a:spcPts val="5747"/>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028700" y="237213"/>
            <a:ext cx="12704573" cy="2910589"/>
          </a:xfrm>
          <a:prstGeom prst="rect">
            <a:avLst/>
          </a:prstGeom>
        </p:spPr>
        <p:txBody>
          <a:bodyPr anchor="t" rtlCol="false" tIns="0" lIns="0" bIns="0" rIns="0">
            <a:spAutoFit/>
          </a:bodyPr>
          <a:lstStyle/>
          <a:p>
            <a:pPr algn="l">
              <a:lnSpc>
                <a:spcPts val="11773"/>
              </a:lnSpc>
            </a:pPr>
            <a:r>
              <a:rPr lang="en-US" sz="8409" b="true">
                <a:solidFill>
                  <a:srgbClr val="3E4437"/>
                </a:solidFill>
                <a:latin typeface="Montserrat Bold"/>
                <a:ea typeface="Montserrat Bold"/>
                <a:cs typeface="Montserrat Bold"/>
                <a:sym typeface="Montserrat Bold"/>
              </a:rPr>
              <a:t>KPI OVERVIEW</a:t>
            </a:r>
          </a:p>
          <a:p>
            <a:pPr algn="l">
              <a:lnSpc>
                <a:spcPts val="11773"/>
              </a:lnSpc>
              <a:spcBef>
                <a:spcPct val="0"/>
              </a:spcBef>
            </a:pPr>
          </a:p>
        </p:txBody>
      </p:sp>
      <p:grpSp>
        <p:nvGrpSpPr>
          <p:cNvPr name="Group 6" id="6"/>
          <p:cNvGrpSpPr/>
          <p:nvPr/>
        </p:nvGrpSpPr>
        <p:grpSpPr>
          <a:xfrm rot="0">
            <a:off x="1910210" y="2415990"/>
            <a:ext cx="5685236" cy="1832160"/>
            <a:chOff x="0" y="0"/>
            <a:chExt cx="1497346" cy="482544"/>
          </a:xfrm>
        </p:grpSpPr>
        <p:sp>
          <p:nvSpPr>
            <p:cNvPr name="Freeform 7" id="7"/>
            <p:cNvSpPr/>
            <p:nvPr/>
          </p:nvSpPr>
          <p:spPr>
            <a:xfrm flipH="false" flipV="false" rot="0">
              <a:off x="0" y="0"/>
              <a:ext cx="1497346" cy="482544"/>
            </a:xfrm>
            <a:custGeom>
              <a:avLst/>
              <a:gdLst/>
              <a:ahLst/>
              <a:cxnLst/>
              <a:rect r="r" b="b" t="t" l="l"/>
              <a:pathLst>
                <a:path h="482544" w="1497346">
                  <a:moveTo>
                    <a:pt x="0" y="0"/>
                  </a:moveTo>
                  <a:lnTo>
                    <a:pt x="1497346" y="0"/>
                  </a:lnTo>
                  <a:lnTo>
                    <a:pt x="1497346" y="482544"/>
                  </a:lnTo>
                  <a:lnTo>
                    <a:pt x="0" y="482544"/>
                  </a:lnTo>
                  <a:close/>
                </a:path>
              </a:pathLst>
            </a:custGeom>
            <a:solidFill>
              <a:srgbClr val="3E4437"/>
            </a:solidFill>
          </p:spPr>
        </p:sp>
        <p:sp>
          <p:nvSpPr>
            <p:cNvPr name="TextBox 8" id="8"/>
            <p:cNvSpPr txBox="true"/>
            <p:nvPr/>
          </p:nvSpPr>
          <p:spPr>
            <a:xfrm>
              <a:off x="0" y="-66675"/>
              <a:ext cx="1497346" cy="549219"/>
            </a:xfrm>
            <a:prstGeom prst="rect">
              <a:avLst/>
            </a:prstGeom>
          </p:spPr>
          <p:txBody>
            <a:bodyPr anchor="ctr" rtlCol="false" tIns="50800" lIns="50800" bIns="50800" rIns="50800"/>
            <a:lstStyle/>
            <a:p>
              <a:pPr algn="ctr">
                <a:lnSpc>
                  <a:spcPts val="4619"/>
                </a:lnSpc>
              </a:pPr>
              <a:r>
                <a:rPr lang="en-US" sz="3299" b="true">
                  <a:solidFill>
                    <a:srgbClr val="FFFFFF"/>
                  </a:solidFill>
                  <a:latin typeface="Montserrat Bold"/>
                  <a:ea typeface="Montserrat Bold"/>
                  <a:cs typeface="Montserrat Bold"/>
                  <a:sym typeface="Montserrat Bold"/>
                </a:rPr>
                <a:t>USERS TRACKED</a:t>
              </a:r>
            </a:p>
            <a:p>
              <a:pPr algn="ctr">
                <a:lnSpc>
                  <a:spcPts val="4619"/>
                </a:lnSpc>
              </a:pPr>
              <a:r>
                <a:rPr lang="en-US" b="true" sz="3299">
                  <a:solidFill>
                    <a:srgbClr val="FFFFFF"/>
                  </a:solidFill>
                  <a:latin typeface="Montserrat Bold"/>
                  <a:ea typeface="Montserrat Bold"/>
                  <a:cs typeface="Montserrat Bold"/>
                  <a:sym typeface="Montserrat Bold"/>
                </a:rPr>
                <a:t>2500</a:t>
              </a:r>
            </a:p>
          </p:txBody>
        </p:sp>
      </p:grpSp>
      <p:grpSp>
        <p:nvGrpSpPr>
          <p:cNvPr name="Group 9" id="9"/>
          <p:cNvGrpSpPr/>
          <p:nvPr/>
        </p:nvGrpSpPr>
        <p:grpSpPr>
          <a:xfrm rot="0">
            <a:off x="10459764" y="2102684"/>
            <a:ext cx="7189999" cy="2458773"/>
            <a:chOff x="0" y="0"/>
            <a:chExt cx="1893662" cy="647578"/>
          </a:xfrm>
        </p:grpSpPr>
        <p:sp>
          <p:nvSpPr>
            <p:cNvPr name="Freeform 10" id="10"/>
            <p:cNvSpPr/>
            <p:nvPr/>
          </p:nvSpPr>
          <p:spPr>
            <a:xfrm flipH="false" flipV="false" rot="0">
              <a:off x="0" y="0"/>
              <a:ext cx="1893662" cy="647578"/>
            </a:xfrm>
            <a:custGeom>
              <a:avLst/>
              <a:gdLst/>
              <a:ahLst/>
              <a:cxnLst/>
              <a:rect r="r" b="b" t="t" l="l"/>
              <a:pathLst>
                <a:path h="647578" w="1893662">
                  <a:moveTo>
                    <a:pt x="0" y="0"/>
                  </a:moveTo>
                  <a:lnTo>
                    <a:pt x="1893662" y="0"/>
                  </a:lnTo>
                  <a:lnTo>
                    <a:pt x="1893662" y="647578"/>
                  </a:lnTo>
                  <a:lnTo>
                    <a:pt x="0" y="647578"/>
                  </a:lnTo>
                  <a:close/>
                </a:path>
              </a:pathLst>
            </a:custGeom>
            <a:solidFill>
              <a:srgbClr val="3E4437"/>
            </a:solidFill>
          </p:spPr>
        </p:sp>
        <p:sp>
          <p:nvSpPr>
            <p:cNvPr name="TextBox 11" id="11"/>
            <p:cNvSpPr txBox="true"/>
            <p:nvPr/>
          </p:nvSpPr>
          <p:spPr>
            <a:xfrm>
              <a:off x="0" y="-66675"/>
              <a:ext cx="1893662" cy="714253"/>
            </a:xfrm>
            <a:prstGeom prst="rect">
              <a:avLst/>
            </a:prstGeom>
          </p:spPr>
          <p:txBody>
            <a:bodyPr anchor="ctr" rtlCol="false" tIns="50800" lIns="50800" bIns="50800" rIns="50800"/>
            <a:lstStyle/>
            <a:p>
              <a:pPr algn="ctr">
                <a:lnSpc>
                  <a:spcPts val="4619"/>
                </a:lnSpc>
              </a:pPr>
              <a:r>
                <a:rPr lang="en-US" sz="3299" b="true">
                  <a:solidFill>
                    <a:srgbClr val="FFFFFF"/>
                  </a:solidFill>
                  <a:latin typeface="Montserrat Bold"/>
                  <a:ea typeface="Montserrat Bold"/>
                  <a:cs typeface="Montserrat Bold"/>
                  <a:sym typeface="Montserrat Bold"/>
                </a:rPr>
                <a:t>AVG  CALORIES BURNED</a:t>
              </a:r>
            </a:p>
            <a:p>
              <a:pPr algn="ctr">
                <a:lnSpc>
                  <a:spcPts val="4619"/>
                </a:lnSpc>
              </a:pPr>
              <a:r>
                <a:rPr lang="en-US" b="true" sz="3299">
                  <a:solidFill>
                    <a:srgbClr val="FFFFFF"/>
                  </a:solidFill>
                  <a:latin typeface="Montserrat Bold"/>
                  <a:ea typeface="Montserrat Bold"/>
                  <a:cs typeface="Montserrat Bold"/>
                  <a:sym typeface="Montserrat Bold"/>
                </a:rPr>
                <a:t>2153.508</a:t>
              </a:r>
            </a:p>
          </p:txBody>
        </p:sp>
      </p:grpSp>
      <p:grpSp>
        <p:nvGrpSpPr>
          <p:cNvPr name="Group 12" id="12"/>
          <p:cNvGrpSpPr/>
          <p:nvPr/>
        </p:nvGrpSpPr>
        <p:grpSpPr>
          <a:xfrm rot="0">
            <a:off x="10459764" y="5367670"/>
            <a:ext cx="7189999" cy="2281752"/>
            <a:chOff x="0" y="0"/>
            <a:chExt cx="1893662" cy="600955"/>
          </a:xfrm>
        </p:grpSpPr>
        <p:sp>
          <p:nvSpPr>
            <p:cNvPr name="Freeform 13" id="13"/>
            <p:cNvSpPr/>
            <p:nvPr/>
          </p:nvSpPr>
          <p:spPr>
            <a:xfrm flipH="false" flipV="false" rot="0">
              <a:off x="0" y="0"/>
              <a:ext cx="1893662" cy="600955"/>
            </a:xfrm>
            <a:custGeom>
              <a:avLst/>
              <a:gdLst/>
              <a:ahLst/>
              <a:cxnLst/>
              <a:rect r="r" b="b" t="t" l="l"/>
              <a:pathLst>
                <a:path h="600955" w="1893662">
                  <a:moveTo>
                    <a:pt x="0" y="0"/>
                  </a:moveTo>
                  <a:lnTo>
                    <a:pt x="1893662" y="0"/>
                  </a:lnTo>
                  <a:lnTo>
                    <a:pt x="1893662" y="600955"/>
                  </a:lnTo>
                  <a:lnTo>
                    <a:pt x="0" y="600955"/>
                  </a:lnTo>
                  <a:close/>
                </a:path>
              </a:pathLst>
            </a:custGeom>
            <a:solidFill>
              <a:srgbClr val="3E4437"/>
            </a:solidFill>
          </p:spPr>
        </p:sp>
        <p:sp>
          <p:nvSpPr>
            <p:cNvPr name="TextBox 14" id="14"/>
            <p:cNvSpPr txBox="true"/>
            <p:nvPr/>
          </p:nvSpPr>
          <p:spPr>
            <a:xfrm>
              <a:off x="0" y="-66675"/>
              <a:ext cx="1893662" cy="667630"/>
            </a:xfrm>
            <a:prstGeom prst="rect">
              <a:avLst/>
            </a:prstGeom>
          </p:spPr>
          <p:txBody>
            <a:bodyPr anchor="ctr" rtlCol="false" tIns="50800" lIns="50800" bIns="50800" rIns="50800"/>
            <a:lstStyle/>
            <a:p>
              <a:pPr algn="ctr">
                <a:lnSpc>
                  <a:spcPts val="4619"/>
                </a:lnSpc>
              </a:pPr>
              <a:r>
                <a:rPr lang="en-US" sz="3299" b="true">
                  <a:solidFill>
                    <a:srgbClr val="FFFFFF"/>
                  </a:solidFill>
                  <a:latin typeface="Montserrat Bold"/>
                  <a:ea typeface="Montserrat Bold"/>
                  <a:cs typeface="Montserrat Bold"/>
                  <a:sym typeface="Montserrat Bold"/>
                </a:rPr>
                <a:t>AVG HEART RATE</a:t>
              </a:r>
            </a:p>
            <a:p>
              <a:pPr algn="ctr">
                <a:lnSpc>
                  <a:spcPts val="4619"/>
                </a:lnSpc>
              </a:pPr>
              <a:r>
                <a:rPr lang="en-US" sz="3299" b="true">
                  <a:solidFill>
                    <a:srgbClr val="FFFFFF"/>
                  </a:solidFill>
                  <a:latin typeface="Montserrat Bold"/>
                  <a:ea typeface="Montserrat Bold"/>
                  <a:cs typeface="Montserrat Bold"/>
                  <a:sym typeface="Montserrat Bold"/>
                </a:rPr>
                <a:t>74.46</a:t>
              </a:r>
            </a:p>
            <a:p>
              <a:pPr algn="ctr">
                <a:lnSpc>
                  <a:spcPts val="4759"/>
                </a:lnSpc>
              </a:pPr>
            </a:p>
          </p:txBody>
        </p:sp>
      </p:grpSp>
      <p:grpSp>
        <p:nvGrpSpPr>
          <p:cNvPr name="Group 15" id="15"/>
          <p:cNvGrpSpPr/>
          <p:nvPr/>
        </p:nvGrpSpPr>
        <p:grpSpPr>
          <a:xfrm rot="0">
            <a:off x="1973928" y="5129597"/>
            <a:ext cx="5621518" cy="1964368"/>
            <a:chOff x="0" y="0"/>
            <a:chExt cx="1480564" cy="517364"/>
          </a:xfrm>
        </p:grpSpPr>
        <p:sp>
          <p:nvSpPr>
            <p:cNvPr name="Freeform 16" id="16"/>
            <p:cNvSpPr/>
            <p:nvPr/>
          </p:nvSpPr>
          <p:spPr>
            <a:xfrm flipH="false" flipV="false" rot="0">
              <a:off x="0" y="0"/>
              <a:ext cx="1480564" cy="517364"/>
            </a:xfrm>
            <a:custGeom>
              <a:avLst/>
              <a:gdLst/>
              <a:ahLst/>
              <a:cxnLst/>
              <a:rect r="r" b="b" t="t" l="l"/>
              <a:pathLst>
                <a:path h="517364" w="1480564">
                  <a:moveTo>
                    <a:pt x="0" y="0"/>
                  </a:moveTo>
                  <a:lnTo>
                    <a:pt x="1480564" y="0"/>
                  </a:lnTo>
                  <a:lnTo>
                    <a:pt x="1480564" y="517364"/>
                  </a:lnTo>
                  <a:lnTo>
                    <a:pt x="0" y="517364"/>
                  </a:lnTo>
                  <a:close/>
                </a:path>
              </a:pathLst>
            </a:custGeom>
            <a:solidFill>
              <a:srgbClr val="3E4437"/>
            </a:solidFill>
          </p:spPr>
        </p:sp>
        <p:sp>
          <p:nvSpPr>
            <p:cNvPr name="TextBox 17" id="17"/>
            <p:cNvSpPr txBox="true"/>
            <p:nvPr/>
          </p:nvSpPr>
          <p:spPr>
            <a:xfrm>
              <a:off x="0" y="-66675"/>
              <a:ext cx="1480564" cy="584039"/>
            </a:xfrm>
            <a:prstGeom prst="rect">
              <a:avLst/>
            </a:prstGeom>
          </p:spPr>
          <p:txBody>
            <a:bodyPr anchor="ctr" rtlCol="false" tIns="50800" lIns="50800" bIns="50800" rIns="50800"/>
            <a:lstStyle/>
            <a:p>
              <a:pPr algn="ctr">
                <a:lnSpc>
                  <a:spcPts val="4619"/>
                </a:lnSpc>
              </a:pPr>
              <a:r>
                <a:rPr lang="en-US" sz="3299" b="true">
                  <a:solidFill>
                    <a:srgbClr val="FFFFFF"/>
                  </a:solidFill>
                  <a:latin typeface="Montserrat Bold"/>
                  <a:ea typeface="Montserrat Bold"/>
                  <a:cs typeface="Montserrat Bold"/>
                  <a:sym typeface="Montserrat Bold"/>
                </a:rPr>
                <a:t>TOTAL DISTANCE</a:t>
              </a:r>
            </a:p>
            <a:p>
              <a:pPr algn="ctr">
                <a:lnSpc>
                  <a:spcPts val="4619"/>
                </a:lnSpc>
              </a:pPr>
              <a:r>
                <a:rPr lang="en-US" b="true" sz="3299">
                  <a:solidFill>
                    <a:srgbClr val="FFFFFF"/>
                  </a:solidFill>
                  <a:latin typeface="Montserrat Bold"/>
                  <a:ea typeface="Montserrat Bold"/>
                  <a:cs typeface="Montserrat Bold"/>
                  <a:sym typeface="Montserrat Bold"/>
                </a:rPr>
                <a:t>15,658.2 KM</a:t>
              </a:r>
            </a:p>
          </p:txBody>
        </p:sp>
      </p:grpSp>
      <p:grpSp>
        <p:nvGrpSpPr>
          <p:cNvPr name="Group 18" id="18"/>
          <p:cNvGrpSpPr/>
          <p:nvPr/>
        </p:nvGrpSpPr>
        <p:grpSpPr>
          <a:xfrm rot="0">
            <a:off x="1910210" y="7975411"/>
            <a:ext cx="5685236" cy="1991727"/>
            <a:chOff x="0" y="0"/>
            <a:chExt cx="1497346" cy="524570"/>
          </a:xfrm>
        </p:grpSpPr>
        <p:sp>
          <p:nvSpPr>
            <p:cNvPr name="Freeform 19" id="19"/>
            <p:cNvSpPr/>
            <p:nvPr/>
          </p:nvSpPr>
          <p:spPr>
            <a:xfrm flipH="false" flipV="false" rot="0">
              <a:off x="0" y="0"/>
              <a:ext cx="1497346" cy="524570"/>
            </a:xfrm>
            <a:custGeom>
              <a:avLst/>
              <a:gdLst/>
              <a:ahLst/>
              <a:cxnLst/>
              <a:rect r="r" b="b" t="t" l="l"/>
              <a:pathLst>
                <a:path h="524570" w="1497346">
                  <a:moveTo>
                    <a:pt x="0" y="0"/>
                  </a:moveTo>
                  <a:lnTo>
                    <a:pt x="1497346" y="0"/>
                  </a:lnTo>
                  <a:lnTo>
                    <a:pt x="1497346" y="524570"/>
                  </a:lnTo>
                  <a:lnTo>
                    <a:pt x="0" y="524570"/>
                  </a:lnTo>
                  <a:close/>
                </a:path>
              </a:pathLst>
            </a:custGeom>
            <a:solidFill>
              <a:srgbClr val="3E4437"/>
            </a:solidFill>
          </p:spPr>
        </p:sp>
        <p:sp>
          <p:nvSpPr>
            <p:cNvPr name="TextBox 20" id="20"/>
            <p:cNvSpPr txBox="true"/>
            <p:nvPr/>
          </p:nvSpPr>
          <p:spPr>
            <a:xfrm>
              <a:off x="0" y="-66675"/>
              <a:ext cx="1497346" cy="591245"/>
            </a:xfrm>
            <a:prstGeom prst="rect">
              <a:avLst/>
            </a:prstGeom>
          </p:spPr>
          <p:txBody>
            <a:bodyPr anchor="ctr" rtlCol="false" tIns="50800" lIns="50800" bIns="50800" rIns="50800"/>
            <a:lstStyle/>
            <a:p>
              <a:pPr algn="ctr">
                <a:lnSpc>
                  <a:spcPts val="4619"/>
                </a:lnSpc>
              </a:pPr>
              <a:r>
                <a:rPr lang="en-US" sz="3299" b="true">
                  <a:solidFill>
                    <a:srgbClr val="FFFFFF"/>
                  </a:solidFill>
                  <a:latin typeface="Montserrat Bold"/>
                  <a:ea typeface="Montserrat Bold"/>
                  <a:cs typeface="Montserrat Bold"/>
                  <a:sym typeface="Montserrat Bold"/>
                </a:rPr>
                <a:t>AVG WORKOUT</a:t>
              </a:r>
            </a:p>
            <a:p>
              <a:pPr algn="ctr">
                <a:lnSpc>
                  <a:spcPts val="4619"/>
                </a:lnSpc>
              </a:pPr>
              <a:r>
                <a:rPr lang="en-US" b="true" sz="3299">
                  <a:solidFill>
                    <a:srgbClr val="FFFFFF"/>
                  </a:solidFill>
                  <a:latin typeface="Montserrat Bold"/>
                  <a:ea typeface="Montserrat Bold"/>
                  <a:cs typeface="Montserrat Bold"/>
                  <a:sym typeface="Montserrat Bold"/>
                </a:rPr>
                <a:t>56.49 min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0544277" y="2242795"/>
            <a:ext cx="7741090" cy="5801409"/>
          </a:xfrm>
          <a:custGeom>
            <a:avLst/>
            <a:gdLst/>
            <a:ahLst/>
            <a:cxnLst/>
            <a:rect r="r" b="b" t="t" l="l"/>
            <a:pathLst>
              <a:path h="5801409" w="7741090">
                <a:moveTo>
                  <a:pt x="0" y="0"/>
                </a:moveTo>
                <a:lnTo>
                  <a:pt x="7741090" y="0"/>
                </a:lnTo>
                <a:lnTo>
                  <a:pt x="7741090" y="5801410"/>
                </a:lnTo>
                <a:lnTo>
                  <a:pt x="0" y="5801410"/>
                </a:lnTo>
                <a:lnTo>
                  <a:pt x="0" y="0"/>
                </a:lnTo>
                <a:close/>
              </a:path>
            </a:pathLst>
          </a:custGeom>
          <a:blipFill>
            <a:blip r:embed="rId2"/>
            <a:stretch>
              <a:fillRect l="0" t="0" r="0" b="0"/>
            </a:stretch>
          </a:blipFill>
        </p:spPr>
      </p:sp>
      <p:sp>
        <p:nvSpPr>
          <p:cNvPr name="TextBox 6" id="6"/>
          <p:cNvSpPr txBox="true"/>
          <p:nvPr/>
        </p:nvSpPr>
        <p:spPr>
          <a:xfrm rot="0">
            <a:off x="1018513" y="372038"/>
            <a:ext cx="13046184" cy="1179974"/>
          </a:xfrm>
          <a:prstGeom prst="rect">
            <a:avLst/>
          </a:prstGeom>
        </p:spPr>
        <p:txBody>
          <a:bodyPr anchor="t" rtlCol="false" tIns="0" lIns="0" bIns="0" rIns="0">
            <a:spAutoFit/>
          </a:bodyPr>
          <a:lstStyle/>
          <a:p>
            <a:pPr algn="l">
              <a:lnSpc>
                <a:spcPts val="9623"/>
              </a:lnSpc>
              <a:spcBef>
                <a:spcPct val="0"/>
              </a:spcBef>
            </a:pPr>
            <a:r>
              <a:rPr lang="en-US" b="true" sz="6874">
                <a:solidFill>
                  <a:srgbClr val="3E4437"/>
                </a:solidFill>
                <a:latin typeface="Montserrat Bold"/>
                <a:ea typeface="Montserrat Bold"/>
                <a:cs typeface="Montserrat Bold"/>
                <a:sym typeface="Montserrat Bold"/>
              </a:rPr>
              <a:t>1.ACTIVE MINUTES BY USER</a:t>
            </a:r>
          </a:p>
        </p:txBody>
      </p:sp>
      <p:sp>
        <p:nvSpPr>
          <p:cNvPr name="TextBox 7" id="7"/>
          <p:cNvSpPr txBox="true"/>
          <p:nvPr/>
        </p:nvSpPr>
        <p:spPr>
          <a:xfrm rot="0">
            <a:off x="1018513" y="2265071"/>
            <a:ext cx="9087614" cy="6993229"/>
          </a:xfrm>
          <a:prstGeom prst="rect">
            <a:avLst/>
          </a:prstGeom>
        </p:spPr>
        <p:txBody>
          <a:bodyPr anchor="t" rtlCol="false" tIns="0" lIns="0" bIns="0" rIns="0">
            <a:spAutoFit/>
          </a:bodyPr>
          <a:lstStyle/>
          <a:p>
            <a:pPr algn="just">
              <a:lnSpc>
                <a:spcPts val="4651"/>
              </a:lnSpc>
            </a:pPr>
            <a:r>
              <a:rPr lang="en-US" sz="3322" b="true">
                <a:solidFill>
                  <a:srgbClr val="3E4437"/>
                </a:solidFill>
                <a:latin typeface="Montserrat Bold"/>
                <a:ea typeface="Montserrat Bold"/>
                <a:cs typeface="Montserrat Bold"/>
                <a:sym typeface="Montserrat Bold"/>
              </a:rPr>
              <a:t>Which users have the highest total active minutes?</a:t>
            </a:r>
          </a:p>
          <a:p>
            <a:pPr algn="just" marL="717387" indent="-358693" lvl="1">
              <a:lnSpc>
                <a:spcPts val="4651"/>
              </a:lnSpc>
              <a:buFont typeface="Arial"/>
              <a:buChar char="•"/>
            </a:pPr>
            <a:r>
              <a:rPr lang="en-US" b="true" sz="3322">
                <a:solidFill>
                  <a:srgbClr val="3E4437"/>
                </a:solidFill>
                <a:latin typeface="Montserrat Bold"/>
                <a:ea typeface="Montserrat Bold"/>
                <a:cs typeface="Montserrat Bold"/>
                <a:sym typeface="Montserrat Bold"/>
              </a:rPr>
              <a:t>FT1752 – 250 minutes</a:t>
            </a:r>
          </a:p>
          <a:p>
            <a:pPr algn="just" marL="717387" indent="-358693" lvl="1">
              <a:lnSpc>
                <a:spcPts val="4651"/>
              </a:lnSpc>
              <a:buFont typeface="Arial"/>
              <a:buChar char="•"/>
            </a:pPr>
            <a:r>
              <a:rPr lang="en-US" b="true" sz="3322">
                <a:solidFill>
                  <a:srgbClr val="3E4437"/>
                </a:solidFill>
                <a:latin typeface="Montserrat Bold"/>
                <a:ea typeface="Montserrat Bold"/>
                <a:cs typeface="Montserrat Bold"/>
                <a:sym typeface="Montserrat Bold"/>
              </a:rPr>
              <a:t>FT1806 – 256 minutes</a:t>
            </a:r>
          </a:p>
          <a:p>
            <a:pPr algn="just" marL="717387" indent="-358693" lvl="1">
              <a:lnSpc>
                <a:spcPts val="4651"/>
              </a:lnSpc>
              <a:buFont typeface="Arial"/>
              <a:buChar char="•"/>
            </a:pPr>
            <a:r>
              <a:rPr lang="en-US" b="true" sz="3322">
                <a:solidFill>
                  <a:srgbClr val="3E4437"/>
                </a:solidFill>
                <a:latin typeface="Montserrat Bold"/>
                <a:ea typeface="Montserrat Bold"/>
                <a:cs typeface="Montserrat Bold"/>
                <a:sym typeface="Montserrat Bold"/>
              </a:rPr>
              <a:t>FT1931 – 272 minutes</a:t>
            </a:r>
          </a:p>
          <a:p>
            <a:pPr algn="just" marL="717387" indent="-358693" lvl="1">
              <a:lnSpc>
                <a:spcPts val="4651"/>
              </a:lnSpc>
              <a:buFont typeface="Arial"/>
              <a:buChar char="•"/>
            </a:pPr>
            <a:r>
              <a:rPr lang="en-US" b="true" sz="3322">
                <a:solidFill>
                  <a:srgbClr val="3E4437"/>
                </a:solidFill>
                <a:latin typeface="Montserrat Bold"/>
                <a:ea typeface="Montserrat Bold"/>
                <a:cs typeface="Montserrat Bold"/>
                <a:sym typeface="Montserrat Bold"/>
              </a:rPr>
              <a:t>FT2078 – 254 minutes</a:t>
            </a:r>
          </a:p>
          <a:p>
            <a:pPr algn="just" marL="717387" indent="-358693" lvl="1">
              <a:lnSpc>
                <a:spcPts val="4651"/>
              </a:lnSpc>
              <a:buFont typeface="Arial"/>
              <a:buChar char="•"/>
            </a:pPr>
            <a:r>
              <a:rPr lang="en-US" b="true" sz="3322">
                <a:solidFill>
                  <a:srgbClr val="3E4437"/>
                </a:solidFill>
                <a:latin typeface="Montserrat Bold"/>
                <a:ea typeface="Montserrat Bold"/>
                <a:cs typeface="Montserrat Bold"/>
                <a:sym typeface="Montserrat Bold"/>
              </a:rPr>
              <a:t>FT2082 – 276 minutes</a:t>
            </a:r>
          </a:p>
          <a:p>
            <a:pPr algn="just">
              <a:lnSpc>
                <a:spcPts val="4651"/>
              </a:lnSpc>
            </a:pPr>
          </a:p>
          <a:p>
            <a:pPr algn="just" marL="717387" indent="-358693" lvl="1">
              <a:lnSpc>
                <a:spcPts val="4651"/>
              </a:lnSpc>
              <a:buFont typeface="Arial"/>
              <a:buChar char="•"/>
            </a:pPr>
            <a:r>
              <a:rPr lang="en-US" b="true" sz="3322">
                <a:solidFill>
                  <a:srgbClr val="3E4437"/>
                </a:solidFill>
                <a:latin typeface="Montserrat Bold"/>
                <a:ea typeface="Montserrat Bold"/>
                <a:cs typeface="Montserrat Bold"/>
                <a:sym typeface="Montserrat Bold"/>
              </a:rPr>
              <a:t>Key Finding:</a:t>
            </a:r>
          </a:p>
          <a:p>
            <a:pPr algn="just">
              <a:lnSpc>
                <a:spcPts val="4651"/>
              </a:lnSpc>
            </a:pPr>
            <a:r>
              <a:rPr lang="en-US" sz="3322" b="true">
                <a:solidFill>
                  <a:srgbClr val="3E4437"/>
                </a:solidFill>
                <a:latin typeface="Montserrat Bold"/>
                <a:ea typeface="Montserrat Bold"/>
                <a:cs typeface="Montserrat Bold"/>
                <a:sym typeface="Montserrat Bold"/>
              </a:rPr>
              <a:t>FT2082 has the highest active minutes with 276 minutes</a:t>
            </a:r>
          </a:p>
          <a:p>
            <a:pPr algn="just">
              <a:lnSpc>
                <a:spcPts val="4651"/>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028700" y="2633157"/>
            <a:ext cx="14421899" cy="6180023"/>
          </a:xfrm>
          <a:prstGeom prst="rect">
            <a:avLst/>
          </a:prstGeom>
        </p:spPr>
        <p:txBody>
          <a:bodyPr anchor="t" rtlCol="false" tIns="0" lIns="0" bIns="0" rIns="0">
            <a:spAutoFit/>
          </a:bodyPr>
          <a:lstStyle/>
          <a:p>
            <a:pPr algn="l">
              <a:lnSpc>
                <a:spcPts val="4932"/>
              </a:lnSpc>
            </a:pPr>
            <a:r>
              <a:rPr lang="en-US" sz="3522" b="true">
                <a:solidFill>
                  <a:srgbClr val="3E4437"/>
                </a:solidFill>
                <a:latin typeface="Montserrat Bold"/>
                <a:ea typeface="Montserrat Bold"/>
                <a:cs typeface="Montserrat Bold"/>
                <a:sym typeface="Montserrat Bold"/>
              </a:rPr>
              <a:t>Workout TypeCount : </a:t>
            </a:r>
          </a:p>
          <a:p>
            <a:pPr algn="l" marL="760602" indent="-380301" lvl="1">
              <a:lnSpc>
                <a:spcPts val="4932"/>
              </a:lnSpc>
              <a:buFont typeface="Arial"/>
              <a:buChar char="•"/>
            </a:pPr>
            <a:r>
              <a:rPr lang="en-US" b="true" sz="3522">
                <a:solidFill>
                  <a:srgbClr val="3E4437"/>
                </a:solidFill>
                <a:latin typeface="Montserrat Bold"/>
                <a:ea typeface="Montserrat Bold"/>
                <a:cs typeface="Montserrat Bold"/>
                <a:sym typeface="Montserrat Bold"/>
              </a:rPr>
              <a:t>Cycling -  [436]</a:t>
            </a:r>
          </a:p>
          <a:p>
            <a:pPr algn="l" marL="760602" indent="-380301" lvl="1">
              <a:lnSpc>
                <a:spcPts val="4932"/>
              </a:lnSpc>
              <a:buFont typeface="Arial"/>
              <a:buChar char="•"/>
            </a:pPr>
            <a:r>
              <a:rPr lang="en-US" b="true" sz="3522">
                <a:solidFill>
                  <a:srgbClr val="3E4437"/>
                </a:solidFill>
                <a:latin typeface="Montserrat Bold"/>
                <a:ea typeface="Montserrat Bold"/>
                <a:cs typeface="Montserrat Bold"/>
                <a:sym typeface="Montserrat Bold"/>
              </a:rPr>
              <a:t>Gym - [538]</a:t>
            </a:r>
          </a:p>
          <a:p>
            <a:pPr algn="l" marL="760602" indent="-380301" lvl="1">
              <a:lnSpc>
                <a:spcPts val="4932"/>
              </a:lnSpc>
              <a:buFont typeface="Arial"/>
              <a:buChar char="•"/>
            </a:pPr>
            <a:r>
              <a:rPr lang="en-US" b="true" sz="3522">
                <a:solidFill>
                  <a:srgbClr val="3E4437"/>
                </a:solidFill>
                <a:latin typeface="Montserrat Bold"/>
                <a:ea typeface="Montserrat Bold"/>
                <a:cs typeface="Montserrat Bold"/>
                <a:sym typeface="Montserrat Bold"/>
              </a:rPr>
              <a:t>Running - [562]</a:t>
            </a:r>
          </a:p>
          <a:p>
            <a:pPr algn="l" marL="760602" indent="-380301" lvl="1">
              <a:lnSpc>
                <a:spcPts val="4932"/>
              </a:lnSpc>
              <a:buFont typeface="Arial"/>
              <a:buChar char="•"/>
            </a:pPr>
            <a:r>
              <a:rPr lang="en-US" b="true" sz="3522">
                <a:solidFill>
                  <a:srgbClr val="3E4437"/>
                </a:solidFill>
                <a:latin typeface="Montserrat Bold"/>
                <a:ea typeface="Montserrat Bold"/>
                <a:cs typeface="Montserrat Bold"/>
                <a:sym typeface="Montserrat Bold"/>
              </a:rPr>
              <a:t>Walking - [733]</a:t>
            </a:r>
          </a:p>
          <a:p>
            <a:pPr algn="l" marL="760602" indent="-380301" lvl="1">
              <a:lnSpc>
                <a:spcPts val="4932"/>
              </a:lnSpc>
              <a:buFont typeface="Arial"/>
              <a:buChar char="•"/>
            </a:pPr>
            <a:r>
              <a:rPr lang="en-US" b="true" sz="3522">
                <a:solidFill>
                  <a:srgbClr val="3E4437"/>
                </a:solidFill>
                <a:latin typeface="Montserrat Bold"/>
                <a:ea typeface="Montserrat Bold"/>
                <a:cs typeface="Montserrat Bold"/>
                <a:sym typeface="Montserrat Bold"/>
              </a:rPr>
              <a:t>Yoga - [231]</a:t>
            </a:r>
          </a:p>
          <a:p>
            <a:pPr algn="l">
              <a:lnSpc>
                <a:spcPts val="4932"/>
              </a:lnSpc>
            </a:pPr>
          </a:p>
          <a:p>
            <a:pPr algn="l" marL="760602" indent="-380301" lvl="1">
              <a:lnSpc>
                <a:spcPts val="4932"/>
              </a:lnSpc>
              <a:buFont typeface="Arial"/>
              <a:buChar char="•"/>
            </a:pPr>
            <a:r>
              <a:rPr lang="en-US" b="true" sz="3522">
                <a:solidFill>
                  <a:srgbClr val="3E4437"/>
                </a:solidFill>
                <a:latin typeface="Montserrat Bold"/>
                <a:ea typeface="Montserrat Bold"/>
                <a:cs typeface="Montserrat Bold"/>
                <a:sym typeface="Montserrat Bold"/>
              </a:rPr>
              <a:t>Key Finding:</a:t>
            </a:r>
          </a:p>
          <a:p>
            <a:pPr algn="ctr">
              <a:lnSpc>
                <a:spcPts val="4932"/>
              </a:lnSpc>
            </a:pPr>
            <a:r>
              <a:rPr lang="en-US" sz="3522" b="true">
                <a:solidFill>
                  <a:srgbClr val="3E4437"/>
                </a:solidFill>
                <a:latin typeface="Montserrat Bold"/>
                <a:ea typeface="Montserrat Bold"/>
                <a:cs typeface="Montserrat Bold"/>
                <a:sym typeface="Montserrat Bold"/>
              </a:rPr>
              <a:t>Walking is the most preferred workout type with 733 records.</a:t>
            </a:r>
          </a:p>
          <a:p>
            <a:pPr algn="l">
              <a:lnSpc>
                <a:spcPts val="4932"/>
              </a:lnSpc>
              <a:spcBef>
                <a:spcPct val="0"/>
              </a:spcBef>
            </a:pPr>
          </a:p>
        </p:txBody>
      </p:sp>
      <p:sp>
        <p:nvSpPr>
          <p:cNvPr name="Freeform 6" id="6"/>
          <p:cNvSpPr/>
          <p:nvPr/>
        </p:nvSpPr>
        <p:spPr>
          <a:xfrm flipH="false" flipV="false" rot="0">
            <a:off x="10666566" y="1480793"/>
            <a:ext cx="7405354" cy="5836350"/>
          </a:xfrm>
          <a:custGeom>
            <a:avLst/>
            <a:gdLst/>
            <a:ahLst/>
            <a:cxnLst/>
            <a:rect r="r" b="b" t="t" l="l"/>
            <a:pathLst>
              <a:path h="5836350" w="7405354">
                <a:moveTo>
                  <a:pt x="0" y="0"/>
                </a:moveTo>
                <a:lnTo>
                  <a:pt x="7405355" y="0"/>
                </a:lnTo>
                <a:lnTo>
                  <a:pt x="7405355" y="5836350"/>
                </a:lnTo>
                <a:lnTo>
                  <a:pt x="0" y="5836350"/>
                </a:lnTo>
                <a:lnTo>
                  <a:pt x="0" y="0"/>
                </a:lnTo>
                <a:close/>
              </a:path>
            </a:pathLst>
          </a:custGeom>
          <a:blipFill>
            <a:blip r:embed="rId2"/>
            <a:stretch>
              <a:fillRect l="0" t="0" r="0" b="0"/>
            </a:stretch>
          </a:blipFill>
        </p:spPr>
      </p:sp>
      <p:sp>
        <p:nvSpPr>
          <p:cNvPr name="TextBox 7" id="7"/>
          <p:cNvSpPr txBox="true"/>
          <p:nvPr/>
        </p:nvSpPr>
        <p:spPr>
          <a:xfrm rot="0">
            <a:off x="654988" y="234328"/>
            <a:ext cx="16978023" cy="2139235"/>
          </a:xfrm>
          <a:prstGeom prst="rect">
            <a:avLst/>
          </a:prstGeom>
        </p:spPr>
        <p:txBody>
          <a:bodyPr anchor="t" rtlCol="false" tIns="0" lIns="0" bIns="0" rIns="0">
            <a:spAutoFit/>
          </a:bodyPr>
          <a:lstStyle/>
          <a:p>
            <a:pPr algn="l">
              <a:lnSpc>
                <a:spcPts val="8614"/>
              </a:lnSpc>
              <a:spcBef>
                <a:spcPct val="0"/>
              </a:spcBef>
            </a:pPr>
            <a:r>
              <a:rPr lang="en-US" b="true" sz="6153">
                <a:solidFill>
                  <a:srgbClr val="3E4437"/>
                </a:solidFill>
                <a:latin typeface="Montserrat Bold"/>
                <a:ea typeface="Montserrat Bold"/>
                <a:cs typeface="Montserrat Bold"/>
                <a:sym typeface="Montserrat Bold"/>
              </a:rPr>
              <a:t>2.WHICH WORKOUT IS MOST PREFERRED BY USER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1721182" y="3094998"/>
            <a:ext cx="6233586" cy="6579113"/>
          </a:xfrm>
          <a:custGeom>
            <a:avLst/>
            <a:gdLst/>
            <a:ahLst/>
            <a:cxnLst/>
            <a:rect r="r" b="b" t="t" l="l"/>
            <a:pathLst>
              <a:path h="6579113" w="6233586">
                <a:moveTo>
                  <a:pt x="0" y="0"/>
                </a:moveTo>
                <a:lnTo>
                  <a:pt x="6233586" y="0"/>
                </a:lnTo>
                <a:lnTo>
                  <a:pt x="6233586" y="6579113"/>
                </a:lnTo>
                <a:lnTo>
                  <a:pt x="0" y="6579113"/>
                </a:lnTo>
                <a:lnTo>
                  <a:pt x="0" y="0"/>
                </a:lnTo>
                <a:close/>
              </a:path>
            </a:pathLst>
          </a:custGeom>
          <a:blipFill>
            <a:blip r:embed="rId2"/>
            <a:stretch>
              <a:fillRect l="0" t="0" r="0" b="0"/>
            </a:stretch>
          </a:blipFill>
        </p:spPr>
      </p:sp>
      <p:sp>
        <p:nvSpPr>
          <p:cNvPr name="TextBox 6" id="6"/>
          <p:cNvSpPr txBox="true"/>
          <p:nvPr/>
        </p:nvSpPr>
        <p:spPr>
          <a:xfrm rot="0">
            <a:off x="1028700" y="447427"/>
            <a:ext cx="16926068" cy="2087186"/>
          </a:xfrm>
          <a:prstGeom prst="rect">
            <a:avLst/>
          </a:prstGeom>
        </p:spPr>
        <p:txBody>
          <a:bodyPr anchor="t" rtlCol="false" tIns="0" lIns="0" bIns="0" rIns="0">
            <a:spAutoFit/>
          </a:bodyPr>
          <a:lstStyle/>
          <a:p>
            <a:pPr algn="l">
              <a:lnSpc>
                <a:spcPts val="8333"/>
              </a:lnSpc>
              <a:spcBef>
                <a:spcPct val="0"/>
              </a:spcBef>
            </a:pPr>
            <a:r>
              <a:rPr lang="en-US" b="true" sz="5952">
                <a:solidFill>
                  <a:srgbClr val="3E4437"/>
                </a:solidFill>
                <a:latin typeface="Montserrat Bold"/>
                <a:ea typeface="Montserrat Bold"/>
                <a:cs typeface="Montserrat Bold"/>
                <a:sym typeface="Montserrat Bold"/>
              </a:rPr>
              <a:t>3.WHAT IS THE AVERAGE NUMBER OF DAILY STEPS BY GENDER</a:t>
            </a:r>
          </a:p>
        </p:txBody>
      </p:sp>
      <p:sp>
        <p:nvSpPr>
          <p:cNvPr name="TextBox 7" id="7"/>
          <p:cNvSpPr txBox="true"/>
          <p:nvPr/>
        </p:nvSpPr>
        <p:spPr>
          <a:xfrm rot="0">
            <a:off x="788153" y="3028323"/>
            <a:ext cx="10722607" cy="5296064"/>
          </a:xfrm>
          <a:prstGeom prst="rect">
            <a:avLst/>
          </a:prstGeom>
        </p:spPr>
        <p:txBody>
          <a:bodyPr anchor="t" rtlCol="false" tIns="0" lIns="0" bIns="0" rIns="0">
            <a:spAutoFit/>
          </a:bodyPr>
          <a:lstStyle/>
          <a:p>
            <a:pPr algn="l">
              <a:lnSpc>
                <a:spcPts val="4715"/>
              </a:lnSpc>
            </a:pPr>
            <a:r>
              <a:rPr lang="en-US" sz="3368" b="true">
                <a:solidFill>
                  <a:srgbClr val="3E4437"/>
                </a:solidFill>
                <a:latin typeface="Montserrat Bold"/>
                <a:ea typeface="Montserrat Bold"/>
                <a:cs typeface="Montserrat Bold"/>
                <a:sym typeface="Montserrat Bold"/>
              </a:rPr>
              <a:t>GenderAverage Daily Steps</a:t>
            </a:r>
          </a:p>
          <a:p>
            <a:pPr algn="l" marL="727272" indent="-363636" lvl="1">
              <a:lnSpc>
                <a:spcPts val="4715"/>
              </a:lnSpc>
              <a:buFont typeface="Arial"/>
              <a:buChar char="•"/>
            </a:pPr>
            <a:r>
              <a:rPr lang="en-US" b="true" sz="3368">
                <a:solidFill>
                  <a:srgbClr val="3E4437"/>
                </a:solidFill>
                <a:latin typeface="Montserrat Bold"/>
                <a:ea typeface="Montserrat Bold"/>
                <a:cs typeface="Montserrat Bold"/>
                <a:sym typeface="Montserrat Bold"/>
              </a:rPr>
              <a:t>Female - [</a:t>
            </a:r>
            <a:r>
              <a:rPr lang="en-US" b="true" sz="3368">
                <a:solidFill>
                  <a:srgbClr val="3E4437"/>
                </a:solidFill>
                <a:latin typeface="Montserrat Bold"/>
                <a:ea typeface="Montserrat Bold"/>
                <a:cs typeface="Montserrat Bold"/>
                <a:sym typeface="Montserrat Bold"/>
              </a:rPr>
              <a:t>8,120.4]</a:t>
            </a:r>
          </a:p>
          <a:p>
            <a:pPr algn="l" marL="727272" indent="-363636" lvl="1">
              <a:lnSpc>
                <a:spcPts val="4715"/>
              </a:lnSpc>
              <a:buFont typeface="Arial"/>
              <a:buChar char="•"/>
            </a:pPr>
            <a:r>
              <a:rPr lang="en-US" b="true" sz="3368">
                <a:solidFill>
                  <a:srgbClr val="3E4437"/>
                </a:solidFill>
                <a:latin typeface="Montserrat Bold"/>
                <a:ea typeface="Montserrat Bold"/>
                <a:cs typeface="Montserrat Bold"/>
                <a:sym typeface="Montserrat Bold"/>
              </a:rPr>
              <a:t>Male - [8,154.2]</a:t>
            </a:r>
          </a:p>
          <a:p>
            <a:pPr algn="l" marL="727272" indent="-363636" lvl="1">
              <a:lnSpc>
                <a:spcPts val="4715"/>
              </a:lnSpc>
              <a:buFont typeface="Arial"/>
              <a:buChar char="•"/>
            </a:pPr>
            <a:r>
              <a:rPr lang="en-US" b="true" sz="3368">
                <a:solidFill>
                  <a:srgbClr val="3E4437"/>
                </a:solidFill>
                <a:latin typeface="Montserrat Bold"/>
                <a:ea typeface="Montserrat Bold"/>
                <a:cs typeface="Montserrat Bold"/>
                <a:sym typeface="Montserrat Bold"/>
              </a:rPr>
              <a:t>Overall - [8,136.0612]</a:t>
            </a:r>
          </a:p>
          <a:p>
            <a:pPr algn="ctr">
              <a:lnSpc>
                <a:spcPts val="4715"/>
              </a:lnSpc>
            </a:pPr>
          </a:p>
          <a:p>
            <a:pPr algn="l" marL="727272" indent="-363636" lvl="1">
              <a:lnSpc>
                <a:spcPts val="4715"/>
              </a:lnSpc>
              <a:buFont typeface="Arial"/>
              <a:buChar char="•"/>
            </a:pPr>
            <a:r>
              <a:rPr lang="en-US" b="true" sz="3368">
                <a:solidFill>
                  <a:srgbClr val="3E4437"/>
                </a:solidFill>
                <a:latin typeface="Montserrat Bold"/>
                <a:ea typeface="Montserrat Bold"/>
                <a:cs typeface="Montserrat Bold"/>
                <a:sym typeface="Montserrat Bold"/>
              </a:rPr>
              <a:t> </a:t>
            </a:r>
            <a:r>
              <a:rPr lang="en-US" b="true" sz="3368">
                <a:solidFill>
                  <a:srgbClr val="3E4437"/>
                </a:solidFill>
                <a:latin typeface="Montserrat Bold"/>
                <a:ea typeface="Montserrat Bold"/>
                <a:cs typeface="Montserrat Bold"/>
                <a:sym typeface="Montserrat Bold"/>
              </a:rPr>
              <a:t>Key Finding :</a:t>
            </a:r>
          </a:p>
          <a:p>
            <a:pPr algn="l">
              <a:lnSpc>
                <a:spcPts val="4715"/>
              </a:lnSpc>
            </a:pPr>
            <a:r>
              <a:rPr lang="en-US" sz="3368" b="true">
                <a:solidFill>
                  <a:srgbClr val="3E4437"/>
                </a:solidFill>
                <a:latin typeface="Montserrat Bold"/>
                <a:ea typeface="Montserrat Bold"/>
                <a:cs typeface="Montserrat Bold"/>
                <a:sym typeface="Montserrat Bold"/>
              </a:rPr>
              <a:t>Male users have a slightly higher average daily step count than female users.</a:t>
            </a:r>
          </a:p>
          <a:p>
            <a:pPr algn="l">
              <a:lnSpc>
                <a:spcPts val="4715"/>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9144000" y="1930075"/>
            <a:ext cx="10129963" cy="5362877"/>
          </a:xfrm>
          <a:custGeom>
            <a:avLst/>
            <a:gdLst/>
            <a:ahLst/>
            <a:cxnLst/>
            <a:rect r="r" b="b" t="t" l="l"/>
            <a:pathLst>
              <a:path h="5362877" w="10129963">
                <a:moveTo>
                  <a:pt x="0" y="0"/>
                </a:moveTo>
                <a:lnTo>
                  <a:pt x="10129963" y="0"/>
                </a:lnTo>
                <a:lnTo>
                  <a:pt x="10129963" y="5362876"/>
                </a:lnTo>
                <a:lnTo>
                  <a:pt x="0" y="5362876"/>
                </a:lnTo>
                <a:lnTo>
                  <a:pt x="0" y="0"/>
                </a:lnTo>
                <a:close/>
              </a:path>
            </a:pathLst>
          </a:custGeom>
          <a:blipFill>
            <a:blip r:embed="rId2"/>
            <a:stretch>
              <a:fillRect l="-3427" t="0" r="-12239" b="-3181"/>
            </a:stretch>
          </a:blipFill>
        </p:spPr>
      </p:sp>
      <p:sp>
        <p:nvSpPr>
          <p:cNvPr name="TextBox 6" id="6"/>
          <p:cNvSpPr txBox="true"/>
          <p:nvPr/>
        </p:nvSpPr>
        <p:spPr>
          <a:xfrm rot="0">
            <a:off x="996101" y="554749"/>
            <a:ext cx="17259300" cy="1970981"/>
          </a:xfrm>
          <a:prstGeom prst="rect">
            <a:avLst/>
          </a:prstGeom>
        </p:spPr>
        <p:txBody>
          <a:bodyPr anchor="t" rtlCol="false" tIns="0" lIns="0" bIns="0" rIns="0">
            <a:spAutoFit/>
          </a:bodyPr>
          <a:lstStyle/>
          <a:p>
            <a:pPr algn="l">
              <a:lnSpc>
                <a:spcPts val="7913"/>
              </a:lnSpc>
              <a:spcBef>
                <a:spcPct val="0"/>
              </a:spcBef>
            </a:pPr>
            <a:r>
              <a:rPr lang="en-US" b="true" sz="5652">
                <a:solidFill>
                  <a:srgbClr val="3E4437"/>
                </a:solidFill>
                <a:latin typeface="Montserrat Bold"/>
                <a:ea typeface="Montserrat Bold"/>
                <a:cs typeface="Montserrat Bold"/>
                <a:sym typeface="Montserrat Bold"/>
              </a:rPr>
              <a:t>4.WHICH WORKOUT TYPE HAS HIGHEST AVERAGE CALORIES BURNED</a:t>
            </a:r>
          </a:p>
        </p:txBody>
      </p:sp>
      <p:sp>
        <p:nvSpPr>
          <p:cNvPr name="TextBox 7" id="7"/>
          <p:cNvSpPr txBox="true"/>
          <p:nvPr/>
        </p:nvSpPr>
        <p:spPr>
          <a:xfrm rot="0">
            <a:off x="996101" y="2843748"/>
            <a:ext cx="25445347" cy="5464684"/>
          </a:xfrm>
          <a:prstGeom prst="rect">
            <a:avLst/>
          </a:prstGeom>
        </p:spPr>
        <p:txBody>
          <a:bodyPr anchor="t" rtlCol="false" tIns="0" lIns="0" bIns="0" rIns="0">
            <a:spAutoFit/>
          </a:bodyPr>
          <a:lstStyle/>
          <a:p>
            <a:pPr algn="l">
              <a:lnSpc>
                <a:spcPts val="4334"/>
              </a:lnSpc>
            </a:pPr>
            <a:r>
              <a:rPr lang="en-US" sz="3096" b="true">
                <a:solidFill>
                  <a:srgbClr val="3E4437"/>
                </a:solidFill>
                <a:latin typeface="Montserrat Bold"/>
                <a:ea typeface="Montserrat Bold"/>
                <a:cs typeface="Montserrat Bold"/>
                <a:sym typeface="Montserrat Bold"/>
              </a:rPr>
              <a:t>Workout TypeAverage Calories : </a:t>
            </a:r>
          </a:p>
          <a:p>
            <a:pPr algn="l" marL="668432" indent="-334216" lvl="1">
              <a:lnSpc>
                <a:spcPts val="4334"/>
              </a:lnSpc>
              <a:buFont typeface="Arial"/>
              <a:buChar char="•"/>
            </a:pPr>
            <a:r>
              <a:rPr lang="en-US" b="true" sz="3096">
                <a:solidFill>
                  <a:srgbClr val="3E4437"/>
                </a:solidFill>
                <a:latin typeface="Montserrat Bold"/>
                <a:ea typeface="Montserrat Bold"/>
                <a:cs typeface="Montserrat Bold"/>
                <a:sym typeface="Montserrat Bold"/>
              </a:rPr>
              <a:t>Cycling - [</a:t>
            </a:r>
            <a:r>
              <a:rPr lang="en-US" b="true" sz="3096">
                <a:solidFill>
                  <a:srgbClr val="3E4437"/>
                </a:solidFill>
                <a:latin typeface="Montserrat Bold"/>
                <a:ea typeface="Montserrat Bold"/>
                <a:cs typeface="Montserrat Bold"/>
                <a:sym typeface="Montserrat Bold"/>
              </a:rPr>
              <a:t>2,164.1]</a:t>
            </a:r>
          </a:p>
          <a:p>
            <a:pPr algn="l" marL="668432" indent="-334216" lvl="1">
              <a:lnSpc>
                <a:spcPts val="4334"/>
              </a:lnSpc>
              <a:buFont typeface="Arial"/>
              <a:buChar char="•"/>
            </a:pPr>
            <a:r>
              <a:rPr lang="en-US" b="true" sz="3096">
                <a:solidFill>
                  <a:srgbClr val="3E4437"/>
                </a:solidFill>
                <a:latin typeface="Montserrat Bold"/>
                <a:ea typeface="Montserrat Bold"/>
                <a:cs typeface="Montserrat Bold"/>
                <a:sym typeface="Montserrat Bold"/>
              </a:rPr>
              <a:t>Gym - [2,155.4]</a:t>
            </a:r>
          </a:p>
          <a:p>
            <a:pPr algn="l" marL="668432" indent="-334216" lvl="1">
              <a:lnSpc>
                <a:spcPts val="4334"/>
              </a:lnSpc>
              <a:buFont typeface="Arial"/>
              <a:buChar char="•"/>
            </a:pPr>
            <a:r>
              <a:rPr lang="en-US" b="true" sz="3096">
                <a:solidFill>
                  <a:srgbClr val="3E4437"/>
                </a:solidFill>
                <a:latin typeface="Montserrat Bold"/>
                <a:ea typeface="Montserrat Bold"/>
                <a:cs typeface="Montserrat Bold"/>
                <a:sym typeface="Montserrat Bold"/>
              </a:rPr>
              <a:t>Running - [2,296.5]</a:t>
            </a:r>
          </a:p>
          <a:p>
            <a:pPr algn="l" marL="668432" indent="-334216" lvl="1">
              <a:lnSpc>
                <a:spcPts val="4334"/>
              </a:lnSpc>
              <a:buFont typeface="Arial"/>
              <a:buChar char="•"/>
            </a:pPr>
            <a:r>
              <a:rPr lang="en-US" b="true" sz="3096">
                <a:solidFill>
                  <a:srgbClr val="3E4437"/>
                </a:solidFill>
                <a:latin typeface="Montserrat Bold"/>
                <a:ea typeface="Montserrat Bold"/>
                <a:cs typeface="Montserrat Bold"/>
                <a:sym typeface="Montserrat Bold"/>
              </a:rPr>
              <a:t>Walking - [2,077.7]</a:t>
            </a:r>
          </a:p>
          <a:p>
            <a:pPr algn="l" marL="668432" indent="-334216" lvl="1">
              <a:lnSpc>
                <a:spcPts val="4334"/>
              </a:lnSpc>
              <a:buFont typeface="Arial"/>
              <a:buChar char="•"/>
            </a:pPr>
            <a:r>
              <a:rPr lang="en-US" b="true" sz="3096">
                <a:solidFill>
                  <a:srgbClr val="3E4437"/>
                </a:solidFill>
                <a:latin typeface="Montserrat Bold"/>
                <a:ea typeface="Montserrat Bold"/>
                <a:cs typeface="Montserrat Bold"/>
                <a:sym typeface="Montserrat Bold"/>
              </a:rPr>
              <a:t>Yoga - [2,021.5]</a:t>
            </a:r>
          </a:p>
          <a:p>
            <a:pPr algn="l">
              <a:lnSpc>
                <a:spcPts val="4334"/>
              </a:lnSpc>
            </a:pPr>
          </a:p>
          <a:p>
            <a:pPr algn="l" marL="668432" indent="-334216" lvl="1">
              <a:lnSpc>
                <a:spcPts val="4334"/>
              </a:lnSpc>
              <a:buFont typeface="Arial"/>
              <a:buChar char="•"/>
            </a:pPr>
            <a:r>
              <a:rPr lang="en-US" b="true" sz="3096">
                <a:solidFill>
                  <a:srgbClr val="3E4437"/>
                </a:solidFill>
                <a:latin typeface="Montserrat Bold"/>
                <a:ea typeface="Montserrat Bold"/>
                <a:cs typeface="Montserrat Bold"/>
                <a:sym typeface="Montserrat Bold"/>
              </a:rPr>
              <a:t>Key Finding :</a:t>
            </a:r>
          </a:p>
          <a:p>
            <a:pPr algn="l">
              <a:lnSpc>
                <a:spcPts val="4334"/>
              </a:lnSpc>
            </a:pPr>
            <a:r>
              <a:rPr lang="en-US" sz="3096" b="true">
                <a:solidFill>
                  <a:srgbClr val="3E4437"/>
                </a:solidFill>
                <a:latin typeface="Montserrat Bold"/>
                <a:ea typeface="Montserrat Bold"/>
                <a:cs typeface="Montserrat Bold"/>
                <a:sym typeface="Montserrat Bold"/>
              </a:rPr>
              <a:t>     </a:t>
            </a:r>
            <a:r>
              <a:rPr lang="en-US" sz="3096" b="true">
                <a:solidFill>
                  <a:srgbClr val="3E4437"/>
                </a:solidFill>
                <a:latin typeface="Montserrat Bold"/>
                <a:ea typeface="Montserrat Bold"/>
                <a:cs typeface="Montserrat Bold"/>
                <a:sym typeface="Montserrat Bold"/>
              </a:rPr>
              <a:t>Running has the highest average calories burned at 2,296.5 calories.</a:t>
            </a:r>
          </a:p>
          <a:p>
            <a:pPr algn="ctr">
              <a:lnSpc>
                <a:spcPts val="4334"/>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7996289" y="2849152"/>
            <a:ext cx="9730286" cy="4944310"/>
          </a:xfrm>
          <a:custGeom>
            <a:avLst/>
            <a:gdLst/>
            <a:ahLst/>
            <a:cxnLst/>
            <a:rect r="r" b="b" t="t" l="l"/>
            <a:pathLst>
              <a:path h="4944310" w="9730286">
                <a:moveTo>
                  <a:pt x="0" y="0"/>
                </a:moveTo>
                <a:lnTo>
                  <a:pt x="9730286" y="0"/>
                </a:lnTo>
                <a:lnTo>
                  <a:pt x="9730286" y="4944310"/>
                </a:lnTo>
                <a:lnTo>
                  <a:pt x="0" y="4944310"/>
                </a:lnTo>
                <a:lnTo>
                  <a:pt x="0" y="0"/>
                </a:lnTo>
                <a:close/>
              </a:path>
            </a:pathLst>
          </a:custGeom>
          <a:blipFill>
            <a:blip r:embed="rId2"/>
            <a:stretch>
              <a:fillRect l="0" t="0" r="0" b="0"/>
            </a:stretch>
          </a:blipFill>
        </p:spPr>
      </p:sp>
      <p:sp>
        <p:nvSpPr>
          <p:cNvPr name="TextBox 6" id="6"/>
          <p:cNvSpPr txBox="true"/>
          <p:nvPr/>
        </p:nvSpPr>
        <p:spPr>
          <a:xfrm rot="0">
            <a:off x="1028700" y="480026"/>
            <a:ext cx="16926068" cy="2174816"/>
          </a:xfrm>
          <a:prstGeom prst="rect">
            <a:avLst/>
          </a:prstGeom>
        </p:spPr>
        <p:txBody>
          <a:bodyPr anchor="t" rtlCol="false" tIns="0" lIns="0" bIns="0" rIns="0">
            <a:spAutoFit/>
          </a:bodyPr>
          <a:lstStyle/>
          <a:p>
            <a:pPr algn="l">
              <a:lnSpc>
                <a:spcPts val="8753"/>
              </a:lnSpc>
              <a:spcBef>
                <a:spcPct val="0"/>
              </a:spcBef>
            </a:pPr>
            <a:r>
              <a:rPr lang="en-US" b="true" sz="6252">
                <a:solidFill>
                  <a:srgbClr val="3E4437"/>
                </a:solidFill>
                <a:latin typeface="Montserrat Bold"/>
                <a:ea typeface="Montserrat Bold"/>
                <a:cs typeface="Montserrat Bold"/>
                <a:sym typeface="Montserrat Bold"/>
              </a:rPr>
              <a:t>5.WHICH MONTH HAS THE HIGHEST  TOTAL WATER INTAKE</a:t>
            </a:r>
          </a:p>
        </p:txBody>
      </p:sp>
      <p:sp>
        <p:nvSpPr>
          <p:cNvPr name="TextBox 7" id="7"/>
          <p:cNvSpPr txBox="true"/>
          <p:nvPr/>
        </p:nvSpPr>
        <p:spPr>
          <a:xfrm rot="0">
            <a:off x="1028700" y="2947105"/>
            <a:ext cx="11505924" cy="6311195"/>
          </a:xfrm>
          <a:prstGeom prst="rect">
            <a:avLst/>
          </a:prstGeom>
        </p:spPr>
        <p:txBody>
          <a:bodyPr anchor="t" rtlCol="false" tIns="0" lIns="0" bIns="0" rIns="0">
            <a:spAutoFit/>
          </a:bodyPr>
          <a:lstStyle/>
          <a:p>
            <a:pPr algn="l">
              <a:lnSpc>
                <a:spcPts val="4559"/>
              </a:lnSpc>
            </a:pPr>
            <a:r>
              <a:rPr lang="en-US" sz="3256" b="true">
                <a:solidFill>
                  <a:srgbClr val="3E4437"/>
                </a:solidFill>
                <a:latin typeface="Montserrat Bold"/>
                <a:ea typeface="Montserrat Bold"/>
                <a:cs typeface="Montserrat Bold"/>
                <a:sym typeface="Montserrat Bold"/>
              </a:rPr>
              <a:t>MonthWater Intake : </a:t>
            </a:r>
          </a:p>
          <a:p>
            <a:pPr algn="l" marL="703100" indent="-351550" lvl="1">
              <a:lnSpc>
                <a:spcPts val="4559"/>
              </a:lnSpc>
              <a:buFont typeface="Arial"/>
              <a:buChar char="•"/>
            </a:pPr>
            <a:r>
              <a:rPr lang="en-US" b="true" sz="3256">
                <a:solidFill>
                  <a:srgbClr val="3E4437"/>
                </a:solidFill>
                <a:latin typeface="Montserrat Bold"/>
                <a:ea typeface="Montserrat Bold"/>
                <a:cs typeface="Montserrat Bold"/>
                <a:sym typeface="Montserrat Bold"/>
              </a:rPr>
              <a:t>January - [</a:t>
            </a:r>
            <a:r>
              <a:rPr lang="en-US" b="true" sz="3256">
                <a:solidFill>
                  <a:srgbClr val="3E4437"/>
                </a:solidFill>
                <a:latin typeface="Montserrat Bold"/>
                <a:ea typeface="Montserrat Bold"/>
                <a:cs typeface="Montserrat Bold"/>
                <a:sym typeface="Montserrat Bold"/>
              </a:rPr>
              <a:t>867.7 L]</a:t>
            </a:r>
          </a:p>
          <a:p>
            <a:pPr algn="l" marL="703100" indent="-351550" lvl="1">
              <a:lnSpc>
                <a:spcPts val="4559"/>
              </a:lnSpc>
              <a:buFont typeface="Arial"/>
              <a:buChar char="•"/>
            </a:pPr>
            <a:r>
              <a:rPr lang="en-US" b="true" sz="3256">
                <a:solidFill>
                  <a:srgbClr val="3E4437"/>
                </a:solidFill>
                <a:latin typeface="Montserrat Bold"/>
                <a:ea typeface="Montserrat Bold"/>
                <a:cs typeface="Montserrat Bold"/>
                <a:sym typeface="Montserrat Bold"/>
              </a:rPr>
              <a:t>February - [834.7 L]</a:t>
            </a:r>
          </a:p>
          <a:p>
            <a:pPr algn="l" marL="703100" indent="-351550" lvl="1">
              <a:lnSpc>
                <a:spcPts val="4559"/>
              </a:lnSpc>
              <a:buFont typeface="Arial"/>
              <a:buChar char="•"/>
            </a:pPr>
            <a:r>
              <a:rPr lang="en-US" b="true" sz="3256">
                <a:solidFill>
                  <a:srgbClr val="3E4437"/>
                </a:solidFill>
                <a:latin typeface="Montserrat Bold"/>
                <a:ea typeface="Montserrat Bold"/>
                <a:cs typeface="Montserrat Bold"/>
                <a:sym typeface="Montserrat Bold"/>
              </a:rPr>
              <a:t>March - [860.5 L]</a:t>
            </a:r>
          </a:p>
          <a:p>
            <a:pPr algn="l" marL="703100" indent="-351550" lvl="1">
              <a:lnSpc>
                <a:spcPts val="4559"/>
              </a:lnSpc>
              <a:buFont typeface="Arial"/>
              <a:buChar char="•"/>
            </a:pPr>
            <a:r>
              <a:rPr lang="en-US" b="true" sz="3256">
                <a:solidFill>
                  <a:srgbClr val="3E4437"/>
                </a:solidFill>
                <a:latin typeface="Montserrat Bold"/>
                <a:ea typeface="Montserrat Bold"/>
                <a:cs typeface="Montserrat Bold"/>
                <a:sym typeface="Montserrat Bold"/>
              </a:rPr>
              <a:t>April - [901.3 L]</a:t>
            </a:r>
          </a:p>
          <a:p>
            <a:pPr algn="l" marL="703100" indent="-351550" lvl="1">
              <a:lnSpc>
                <a:spcPts val="4559"/>
              </a:lnSpc>
              <a:buFont typeface="Arial"/>
              <a:buChar char="•"/>
            </a:pPr>
            <a:r>
              <a:rPr lang="en-US" b="true" sz="3256">
                <a:solidFill>
                  <a:srgbClr val="3E4437"/>
                </a:solidFill>
                <a:latin typeface="Montserrat Bold"/>
                <a:ea typeface="Montserrat Bold"/>
                <a:cs typeface="Montserrat Bold"/>
                <a:sym typeface="Montserrat Bold"/>
              </a:rPr>
              <a:t>May - [827.6 L]</a:t>
            </a:r>
          </a:p>
          <a:p>
            <a:pPr algn="l" marL="703100" indent="-351550" lvl="1">
              <a:lnSpc>
                <a:spcPts val="4559"/>
              </a:lnSpc>
              <a:buFont typeface="Arial"/>
              <a:buChar char="•"/>
            </a:pPr>
            <a:r>
              <a:rPr lang="en-US" b="true" sz="3256">
                <a:solidFill>
                  <a:srgbClr val="3E4437"/>
                </a:solidFill>
                <a:latin typeface="Montserrat Bold"/>
                <a:ea typeface="Montserrat Bold"/>
                <a:cs typeface="Montserrat Bold"/>
                <a:sym typeface="Montserrat Bold"/>
              </a:rPr>
              <a:t>June - [1,451 L]</a:t>
            </a:r>
          </a:p>
          <a:p>
            <a:pPr algn="l">
              <a:lnSpc>
                <a:spcPts val="4559"/>
              </a:lnSpc>
            </a:pPr>
          </a:p>
          <a:p>
            <a:pPr algn="l" marL="703100" indent="-351550" lvl="1">
              <a:lnSpc>
                <a:spcPts val="4559"/>
              </a:lnSpc>
              <a:buFont typeface="Arial"/>
              <a:buChar char="•"/>
            </a:pPr>
            <a:r>
              <a:rPr lang="en-US" b="true" sz="3256">
                <a:solidFill>
                  <a:srgbClr val="3E4437"/>
                </a:solidFill>
                <a:latin typeface="Montserrat Bold"/>
                <a:ea typeface="Montserrat Bold"/>
                <a:cs typeface="Montserrat Bold"/>
                <a:sym typeface="Montserrat Bold"/>
              </a:rPr>
              <a:t>Key Finding</a:t>
            </a:r>
          </a:p>
          <a:p>
            <a:pPr algn="ctr">
              <a:lnSpc>
                <a:spcPts val="4559"/>
              </a:lnSpc>
            </a:pPr>
            <a:r>
              <a:rPr lang="en-US" sz="3256">
                <a:solidFill>
                  <a:srgbClr val="3E4437"/>
                </a:solidFill>
                <a:latin typeface="Montserrat"/>
                <a:ea typeface="Montserrat"/>
                <a:cs typeface="Montserrat"/>
                <a:sym typeface="Montserrat"/>
              </a:rPr>
              <a:t>   </a:t>
            </a:r>
            <a:r>
              <a:rPr lang="en-US" sz="3256" b="true">
                <a:solidFill>
                  <a:srgbClr val="3E4437"/>
                </a:solidFill>
                <a:latin typeface="Montserrat Bold"/>
                <a:ea typeface="Montserrat Bold"/>
                <a:cs typeface="Montserrat Bold"/>
                <a:sym typeface="Montserrat Bold"/>
              </a:rPr>
              <a:t>June has the highest total water intake with 1,451 L.</a:t>
            </a:r>
          </a:p>
          <a:p>
            <a:pPr algn="ctr">
              <a:lnSpc>
                <a:spcPts val="455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2258672" y="2540816"/>
            <a:ext cx="5636666" cy="7138015"/>
          </a:xfrm>
          <a:custGeom>
            <a:avLst/>
            <a:gdLst/>
            <a:ahLst/>
            <a:cxnLst/>
            <a:rect r="r" b="b" t="t" l="l"/>
            <a:pathLst>
              <a:path h="7138015" w="5636666">
                <a:moveTo>
                  <a:pt x="0" y="0"/>
                </a:moveTo>
                <a:lnTo>
                  <a:pt x="5636667" y="0"/>
                </a:lnTo>
                <a:lnTo>
                  <a:pt x="5636667" y="7138015"/>
                </a:lnTo>
                <a:lnTo>
                  <a:pt x="0" y="7138015"/>
                </a:lnTo>
                <a:lnTo>
                  <a:pt x="0" y="0"/>
                </a:lnTo>
                <a:close/>
              </a:path>
            </a:pathLst>
          </a:custGeom>
          <a:blipFill>
            <a:blip r:embed="rId2"/>
            <a:stretch>
              <a:fillRect l="-5242" t="-1514" r="0" b="-1514"/>
            </a:stretch>
          </a:blipFill>
        </p:spPr>
      </p:sp>
      <p:sp>
        <p:nvSpPr>
          <p:cNvPr name="TextBox 6" id="6"/>
          <p:cNvSpPr txBox="true"/>
          <p:nvPr/>
        </p:nvSpPr>
        <p:spPr>
          <a:xfrm rot="0">
            <a:off x="805923" y="184331"/>
            <a:ext cx="15817704" cy="2861886"/>
          </a:xfrm>
          <a:prstGeom prst="rect">
            <a:avLst/>
          </a:prstGeom>
        </p:spPr>
        <p:txBody>
          <a:bodyPr anchor="t" rtlCol="false" tIns="0" lIns="0" bIns="0" rIns="0">
            <a:spAutoFit/>
          </a:bodyPr>
          <a:lstStyle/>
          <a:p>
            <a:pPr algn="l">
              <a:lnSpc>
                <a:spcPts val="7633"/>
              </a:lnSpc>
              <a:spcBef>
                <a:spcPct val="0"/>
              </a:spcBef>
            </a:pPr>
            <a:r>
              <a:rPr lang="en-US" b="true" sz="5452">
                <a:solidFill>
                  <a:srgbClr val="3E4437"/>
                </a:solidFill>
                <a:latin typeface="Montserrat Bold"/>
                <a:ea typeface="Montserrat Bold"/>
                <a:cs typeface="Montserrat Bold"/>
                <a:sym typeface="Montserrat Bold"/>
              </a:rPr>
              <a:t>6.HOW DO AVERAGE HEART RATE AND STRESS LEVEL VARY ACROSS WORKOUT TYPES</a:t>
            </a:r>
          </a:p>
        </p:txBody>
      </p:sp>
      <p:sp>
        <p:nvSpPr>
          <p:cNvPr name="TextBox 7" id="7"/>
          <p:cNvSpPr txBox="true"/>
          <p:nvPr/>
        </p:nvSpPr>
        <p:spPr>
          <a:xfrm rot="0">
            <a:off x="577731" y="3028323"/>
            <a:ext cx="13453254" cy="6735322"/>
          </a:xfrm>
          <a:prstGeom prst="rect">
            <a:avLst/>
          </a:prstGeom>
        </p:spPr>
        <p:txBody>
          <a:bodyPr anchor="t" rtlCol="false" tIns="0" lIns="0" bIns="0" rIns="0">
            <a:spAutoFit/>
          </a:bodyPr>
          <a:lstStyle/>
          <a:p>
            <a:pPr algn="l">
              <a:lnSpc>
                <a:spcPts val="4442"/>
              </a:lnSpc>
            </a:pPr>
            <a:r>
              <a:rPr lang="en-US" sz="3173" b="true">
                <a:solidFill>
                  <a:srgbClr val="3E4437"/>
                </a:solidFill>
                <a:latin typeface="Montserrat Bold"/>
                <a:ea typeface="Montserrat Bold"/>
                <a:cs typeface="Montserrat Bold"/>
                <a:sym typeface="Montserrat Bold"/>
              </a:rPr>
              <a:t>                       WorkoutAvg. Heart       RateAvg. Stress : </a:t>
            </a:r>
          </a:p>
          <a:p>
            <a:pPr algn="l" marL="685110" indent="-342555" lvl="1">
              <a:lnSpc>
                <a:spcPts val="4442"/>
              </a:lnSpc>
              <a:buFont typeface="Arial"/>
              <a:buChar char="•"/>
            </a:pPr>
            <a:r>
              <a:rPr lang="en-US" b="true" sz="3173">
                <a:solidFill>
                  <a:srgbClr val="3E4437"/>
                </a:solidFill>
                <a:latin typeface="Montserrat Bold"/>
                <a:ea typeface="Montserrat Bold"/>
                <a:cs typeface="Montserrat Bold"/>
                <a:sym typeface="Montserrat Bold"/>
              </a:rPr>
              <a:t>Cycling                 [73.5]                       [</a:t>
            </a:r>
            <a:r>
              <a:rPr lang="en-US" b="true" sz="3173">
                <a:solidFill>
                  <a:srgbClr val="3E4437"/>
                </a:solidFill>
                <a:latin typeface="Montserrat Bold"/>
                <a:ea typeface="Montserrat Bold"/>
                <a:cs typeface="Montserrat Bold"/>
                <a:sym typeface="Montserrat Bold"/>
              </a:rPr>
              <a:t>47.9]</a:t>
            </a:r>
          </a:p>
          <a:p>
            <a:pPr algn="l" marL="685110" indent="-342555" lvl="1">
              <a:lnSpc>
                <a:spcPts val="4442"/>
              </a:lnSpc>
              <a:buFont typeface="Arial"/>
              <a:buChar char="•"/>
            </a:pPr>
            <a:r>
              <a:rPr lang="en-US" b="true" sz="3173">
                <a:solidFill>
                  <a:srgbClr val="3E4437"/>
                </a:solidFill>
                <a:latin typeface="Montserrat Bold"/>
                <a:ea typeface="Montserrat Bold"/>
                <a:cs typeface="Montserrat Bold"/>
                <a:sym typeface="Montserrat Bold"/>
              </a:rPr>
              <a:t>Gym                      [74.5]                       [49.1]</a:t>
            </a:r>
          </a:p>
          <a:p>
            <a:pPr algn="l" marL="685110" indent="-342555" lvl="1">
              <a:lnSpc>
                <a:spcPts val="4442"/>
              </a:lnSpc>
              <a:buFont typeface="Arial"/>
              <a:buChar char="•"/>
            </a:pPr>
            <a:r>
              <a:rPr lang="en-US" b="true" sz="3173">
                <a:solidFill>
                  <a:srgbClr val="3E4437"/>
                </a:solidFill>
                <a:latin typeface="Montserrat Bold"/>
                <a:ea typeface="Montserrat Bold"/>
                <a:cs typeface="Montserrat Bold"/>
                <a:sym typeface="Montserrat Bold"/>
              </a:rPr>
              <a:t>Running               [78.9]                       [48.1]</a:t>
            </a:r>
          </a:p>
          <a:p>
            <a:pPr algn="l" marL="685110" indent="-342555" lvl="1">
              <a:lnSpc>
                <a:spcPts val="4442"/>
              </a:lnSpc>
              <a:buFont typeface="Arial"/>
              <a:buChar char="•"/>
            </a:pPr>
            <a:r>
              <a:rPr lang="en-US" b="true" sz="3173">
                <a:solidFill>
                  <a:srgbClr val="3E4437"/>
                </a:solidFill>
                <a:latin typeface="Montserrat Bold"/>
                <a:ea typeface="Montserrat Bold"/>
                <a:cs typeface="Montserrat Bold"/>
                <a:sym typeface="Montserrat Bold"/>
              </a:rPr>
              <a:t>Walking                [72.5]                       [48.4]</a:t>
            </a:r>
          </a:p>
          <a:p>
            <a:pPr algn="l" marL="685110" indent="-342555" lvl="1">
              <a:lnSpc>
                <a:spcPts val="4442"/>
              </a:lnSpc>
              <a:buFont typeface="Arial"/>
              <a:buChar char="•"/>
            </a:pPr>
            <a:r>
              <a:rPr lang="en-US" b="true" sz="3173">
                <a:solidFill>
                  <a:srgbClr val="3E4437"/>
                </a:solidFill>
                <a:latin typeface="Montserrat Bold"/>
                <a:ea typeface="Montserrat Bold"/>
                <a:cs typeface="Montserrat Bold"/>
                <a:sym typeface="Montserrat Bold"/>
              </a:rPr>
              <a:t>Yoga                      [71.8]                        [47.6]</a:t>
            </a:r>
          </a:p>
          <a:p>
            <a:pPr algn="ctr">
              <a:lnSpc>
                <a:spcPts val="4442"/>
              </a:lnSpc>
            </a:pPr>
          </a:p>
          <a:p>
            <a:pPr algn="l">
              <a:lnSpc>
                <a:spcPts val="4442"/>
              </a:lnSpc>
            </a:pPr>
            <a:r>
              <a:rPr lang="en-US" sz="3173" b="true">
                <a:solidFill>
                  <a:srgbClr val="3E4437"/>
                </a:solidFill>
                <a:latin typeface="Montserrat Bold"/>
                <a:ea typeface="Montserrat Bold"/>
                <a:cs typeface="Montserrat Bold"/>
                <a:sym typeface="Montserrat Bold"/>
              </a:rPr>
              <a:t>Key Finding:</a:t>
            </a:r>
          </a:p>
          <a:p>
            <a:pPr algn="l" marL="685110" indent="-342555" lvl="1">
              <a:lnSpc>
                <a:spcPts val="4442"/>
              </a:lnSpc>
              <a:buFont typeface="Arial"/>
              <a:buChar char="•"/>
            </a:pPr>
            <a:r>
              <a:rPr lang="en-US" b="true" sz="3173">
                <a:solidFill>
                  <a:srgbClr val="3E4437"/>
                </a:solidFill>
                <a:latin typeface="Montserrat Bold"/>
                <a:ea typeface="Montserrat Bold"/>
                <a:cs typeface="Montserrat Bold"/>
                <a:sym typeface="Montserrat Bold"/>
              </a:rPr>
              <a:t>Running has the highest average heart rate: 78.9</a:t>
            </a:r>
          </a:p>
          <a:p>
            <a:pPr algn="l" marL="685110" indent="-342555" lvl="1">
              <a:lnSpc>
                <a:spcPts val="4442"/>
              </a:lnSpc>
              <a:buFont typeface="Arial"/>
              <a:buChar char="•"/>
            </a:pPr>
            <a:r>
              <a:rPr lang="en-US" b="true" sz="3173">
                <a:solidFill>
                  <a:srgbClr val="3E4437"/>
                </a:solidFill>
                <a:latin typeface="Montserrat Bold"/>
                <a:ea typeface="Montserrat Bold"/>
                <a:cs typeface="Montserrat Bold"/>
                <a:sym typeface="Montserrat Bold"/>
              </a:rPr>
              <a:t>Gym has the highest average stress level: 49.1</a:t>
            </a:r>
          </a:p>
          <a:p>
            <a:pPr algn="l" marL="685110" indent="-342555" lvl="1">
              <a:lnSpc>
                <a:spcPts val="4442"/>
              </a:lnSpc>
              <a:buFont typeface="Arial"/>
              <a:buChar char="•"/>
            </a:pPr>
            <a:r>
              <a:rPr lang="en-US" b="true" sz="3173">
                <a:solidFill>
                  <a:srgbClr val="3E4437"/>
                </a:solidFill>
                <a:latin typeface="Montserrat Bold"/>
                <a:ea typeface="Montserrat Bold"/>
                <a:cs typeface="Montserrat Bold"/>
                <a:sym typeface="Montserrat Bold"/>
              </a:rPr>
              <a:t>Yoga has the lowest average stress level: 47.6</a:t>
            </a:r>
          </a:p>
          <a:p>
            <a:pPr algn="ctr">
              <a:lnSpc>
                <a:spcPts val="4442"/>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9648320" y="2650405"/>
            <a:ext cx="7610980" cy="3558900"/>
          </a:xfrm>
          <a:custGeom>
            <a:avLst/>
            <a:gdLst/>
            <a:ahLst/>
            <a:cxnLst/>
            <a:rect r="r" b="b" t="t" l="l"/>
            <a:pathLst>
              <a:path h="3558900" w="7610980">
                <a:moveTo>
                  <a:pt x="0" y="0"/>
                </a:moveTo>
                <a:lnTo>
                  <a:pt x="7610980" y="0"/>
                </a:lnTo>
                <a:lnTo>
                  <a:pt x="7610980" y="3558900"/>
                </a:lnTo>
                <a:lnTo>
                  <a:pt x="0" y="3558900"/>
                </a:lnTo>
                <a:lnTo>
                  <a:pt x="0" y="0"/>
                </a:lnTo>
                <a:close/>
              </a:path>
            </a:pathLst>
          </a:custGeom>
          <a:blipFill>
            <a:blip r:embed="rId2"/>
            <a:stretch>
              <a:fillRect l="-4742" t="-5618" r="0" b="0"/>
            </a:stretch>
          </a:blipFill>
        </p:spPr>
      </p:sp>
      <p:sp>
        <p:nvSpPr>
          <p:cNvPr name="TextBox 6" id="6"/>
          <p:cNvSpPr txBox="true"/>
          <p:nvPr/>
        </p:nvSpPr>
        <p:spPr>
          <a:xfrm rot="0">
            <a:off x="1028700" y="476002"/>
            <a:ext cx="16926068" cy="2489140"/>
          </a:xfrm>
          <a:prstGeom prst="rect">
            <a:avLst/>
          </a:prstGeom>
        </p:spPr>
        <p:txBody>
          <a:bodyPr anchor="t" rtlCol="false" tIns="0" lIns="0" bIns="0" rIns="0">
            <a:spAutoFit/>
          </a:bodyPr>
          <a:lstStyle/>
          <a:p>
            <a:pPr algn="l">
              <a:lnSpc>
                <a:spcPts val="6653"/>
              </a:lnSpc>
              <a:spcBef>
                <a:spcPct val="0"/>
              </a:spcBef>
            </a:pPr>
            <a:r>
              <a:rPr lang="en-US" b="true" sz="4752">
                <a:solidFill>
                  <a:srgbClr val="3E4437"/>
                </a:solidFill>
                <a:latin typeface="Montserrat Bold"/>
                <a:ea typeface="Montserrat Bold"/>
                <a:cs typeface="Montserrat Bold"/>
                <a:sym typeface="Montserrat Bold"/>
              </a:rPr>
              <a:t>7.HOW IS THE NUMBER OF USERS DISTRIBUTED ACROSS DIFFERENT AGE GROUPS BASED ON SLEEP DATA</a:t>
            </a:r>
          </a:p>
        </p:txBody>
      </p:sp>
      <p:sp>
        <p:nvSpPr>
          <p:cNvPr name="TextBox 7" id="7"/>
          <p:cNvSpPr txBox="true"/>
          <p:nvPr/>
        </p:nvSpPr>
        <p:spPr>
          <a:xfrm rot="0">
            <a:off x="1028700" y="2593255"/>
            <a:ext cx="12714252" cy="6074331"/>
          </a:xfrm>
          <a:prstGeom prst="rect">
            <a:avLst/>
          </a:prstGeom>
        </p:spPr>
        <p:txBody>
          <a:bodyPr anchor="t" rtlCol="false" tIns="0" lIns="0" bIns="0" rIns="0">
            <a:spAutoFit/>
          </a:bodyPr>
          <a:lstStyle/>
          <a:p>
            <a:pPr algn="l">
              <a:lnSpc>
                <a:spcPts val="4386"/>
              </a:lnSpc>
            </a:pPr>
          </a:p>
          <a:p>
            <a:pPr algn="l">
              <a:lnSpc>
                <a:spcPts val="4386"/>
              </a:lnSpc>
            </a:pPr>
            <a:r>
              <a:rPr lang="en-US" sz="3133" b="true">
                <a:solidFill>
                  <a:srgbClr val="3E4437"/>
                </a:solidFill>
                <a:latin typeface="Montserrat Bold"/>
                <a:ea typeface="Montserrat Bold"/>
                <a:cs typeface="Montserrat Bold"/>
                <a:sym typeface="Montserrat Bold"/>
              </a:rPr>
              <a:t>Age GroupCount:</a:t>
            </a:r>
          </a:p>
          <a:p>
            <a:pPr algn="l" marL="676471" indent="-338235" lvl="1">
              <a:lnSpc>
                <a:spcPts val="4386"/>
              </a:lnSpc>
              <a:buFont typeface="Arial"/>
              <a:buChar char="•"/>
            </a:pPr>
            <a:r>
              <a:rPr lang="en-US" b="true" sz="3133">
                <a:solidFill>
                  <a:srgbClr val="3E4437"/>
                </a:solidFill>
                <a:latin typeface="Montserrat Bold"/>
                <a:ea typeface="Montserrat Bold"/>
                <a:cs typeface="Montserrat Bold"/>
                <a:sym typeface="Montserrat Bold"/>
              </a:rPr>
              <a:t>18–27  - [</a:t>
            </a:r>
            <a:r>
              <a:rPr lang="en-US" b="true" sz="3133">
                <a:solidFill>
                  <a:srgbClr val="3E4437"/>
                </a:solidFill>
                <a:latin typeface="Montserrat Bold"/>
                <a:ea typeface="Montserrat Bold"/>
                <a:cs typeface="Montserrat Bold"/>
                <a:sym typeface="Montserrat Bold"/>
              </a:rPr>
              <a:t>536]</a:t>
            </a:r>
          </a:p>
          <a:p>
            <a:pPr algn="l" marL="676471" indent="-338235" lvl="1">
              <a:lnSpc>
                <a:spcPts val="4386"/>
              </a:lnSpc>
              <a:buFont typeface="Arial"/>
              <a:buChar char="•"/>
            </a:pPr>
            <a:r>
              <a:rPr lang="en-US" b="true" sz="3133">
                <a:solidFill>
                  <a:srgbClr val="3E4437"/>
                </a:solidFill>
                <a:latin typeface="Montserrat Bold"/>
                <a:ea typeface="Montserrat Bold"/>
                <a:cs typeface="Montserrat Bold"/>
                <a:sym typeface="Montserrat Bold"/>
              </a:rPr>
              <a:t>28–37 - [</a:t>
            </a:r>
            <a:r>
              <a:rPr lang="en-US" b="true" sz="3133">
                <a:solidFill>
                  <a:srgbClr val="3E4437"/>
                </a:solidFill>
                <a:latin typeface="Montserrat Bold"/>
                <a:ea typeface="Montserrat Bold"/>
                <a:cs typeface="Montserrat Bold"/>
                <a:sym typeface="Montserrat Bold"/>
              </a:rPr>
              <a:t>605]</a:t>
            </a:r>
          </a:p>
          <a:p>
            <a:pPr algn="l" marL="676471" indent="-338235" lvl="1">
              <a:lnSpc>
                <a:spcPts val="4386"/>
              </a:lnSpc>
              <a:buFont typeface="Arial"/>
              <a:buChar char="•"/>
            </a:pPr>
            <a:r>
              <a:rPr lang="en-US" b="true" sz="3133">
                <a:solidFill>
                  <a:srgbClr val="3E4437"/>
                </a:solidFill>
                <a:latin typeface="Montserrat Bold"/>
                <a:ea typeface="Montserrat Bold"/>
                <a:cs typeface="Montserrat Bold"/>
                <a:sym typeface="Montserrat Bold"/>
              </a:rPr>
              <a:t>38–47 - [</a:t>
            </a:r>
            <a:r>
              <a:rPr lang="en-US" b="true" sz="3133">
                <a:solidFill>
                  <a:srgbClr val="3E4437"/>
                </a:solidFill>
                <a:latin typeface="Montserrat Bold"/>
                <a:ea typeface="Montserrat Bold"/>
                <a:cs typeface="Montserrat Bold"/>
                <a:sym typeface="Montserrat Bold"/>
              </a:rPr>
              <a:t>584]</a:t>
            </a:r>
          </a:p>
          <a:p>
            <a:pPr algn="l" marL="676471" indent="-338235" lvl="1">
              <a:lnSpc>
                <a:spcPts val="4386"/>
              </a:lnSpc>
              <a:buFont typeface="Arial"/>
              <a:buChar char="•"/>
            </a:pPr>
            <a:r>
              <a:rPr lang="en-US" b="true" sz="3133">
                <a:solidFill>
                  <a:srgbClr val="3E4437"/>
                </a:solidFill>
                <a:latin typeface="Montserrat Bold"/>
                <a:ea typeface="Montserrat Bold"/>
                <a:cs typeface="Montserrat Bold"/>
                <a:sym typeface="Montserrat Bold"/>
              </a:rPr>
              <a:t>4</a:t>
            </a:r>
            <a:r>
              <a:rPr lang="en-US" b="true" sz="3133">
                <a:solidFill>
                  <a:srgbClr val="3E4437"/>
                </a:solidFill>
                <a:latin typeface="Montserrat Bold"/>
                <a:ea typeface="Montserrat Bold"/>
                <a:cs typeface="Montserrat Bold"/>
                <a:sym typeface="Montserrat Bold"/>
              </a:rPr>
              <a:t>8–57 - [595]</a:t>
            </a:r>
          </a:p>
          <a:p>
            <a:pPr algn="l" marL="676471" indent="-338235" lvl="1">
              <a:lnSpc>
                <a:spcPts val="4386"/>
              </a:lnSpc>
              <a:buFont typeface="Arial"/>
              <a:buChar char="•"/>
            </a:pPr>
            <a:r>
              <a:rPr lang="en-US" b="true" sz="3133">
                <a:solidFill>
                  <a:srgbClr val="3E4437"/>
                </a:solidFill>
                <a:latin typeface="Montserrat Bold"/>
                <a:ea typeface="Montserrat Bold"/>
                <a:cs typeface="Montserrat Bold"/>
                <a:sym typeface="Montserrat Bold"/>
              </a:rPr>
              <a:t>58–67 - [180]</a:t>
            </a:r>
          </a:p>
          <a:p>
            <a:pPr algn="l">
              <a:lnSpc>
                <a:spcPts val="4386"/>
              </a:lnSpc>
            </a:pPr>
          </a:p>
          <a:p>
            <a:pPr algn="l">
              <a:lnSpc>
                <a:spcPts val="4386"/>
              </a:lnSpc>
            </a:pPr>
            <a:r>
              <a:rPr lang="en-US" sz="3133" b="true">
                <a:solidFill>
                  <a:srgbClr val="3E4437"/>
                </a:solidFill>
                <a:latin typeface="Montserrat Bold"/>
                <a:ea typeface="Montserrat Bold"/>
                <a:cs typeface="Montserrat Bold"/>
                <a:sym typeface="Montserrat Bold"/>
              </a:rPr>
              <a:t>Key Finding:</a:t>
            </a:r>
          </a:p>
          <a:p>
            <a:pPr algn="l">
              <a:lnSpc>
                <a:spcPts val="4386"/>
              </a:lnSpc>
            </a:pPr>
            <a:r>
              <a:rPr lang="en-US" sz="3133" b="true">
                <a:solidFill>
                  <a:srgbClr val="3E4437"/>
                </a:solidFill>
                <a:latin typeface="Montserrat Bold"/>
                <a:ea typeface="Montserrat Bold"/>
                <a:cs typeface="Montserrat Bold"/>
                <a:sym typeface="Montserrat Bold"/>
              </a:rPr>
              <a:t>The 28–37 age group has the highest count with 605 records.</a:t>
            </a:r>
          </a:p>
          <a:p>
            <a:pPr algn="l">
              <a:lnSpc>
                <a:spcPts val="4386"/>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8292364" y="2800043"/>
            <a:ext cx="8966936" cy="4687641"/>
          </a:xfrm>
          <a:custGeom>
            <a:avLst/>
            <a:gdLst/>
            <a:ahLst/>
            <a:cxnLst/>
            <a:rect r="r" b="b" t="t" l="l"/>
            <a:pathLst>
              <a:path h="4687641" w="8966936">
                <a:moveTo>
                  <a:pt x="0" y="0"/>
                </a:moveTo>
                <a:lnTo>
                  <a:pt x="8966936" y="0"/>
                </a:lnTo>
                <a:lnTo>
                  <a:pt x="8966936" y="4687642"/>
                </a:lnTo>
                <a:lnTo>
                  <a:pt x="0" y="4687642"/>
                </a:lnTo>
                <a:lnTo>
                  <a:pt x="0" y="0"/>
                </a:lnTo>
                <a:close/>
              </a:path>
            </a:pathLst>
          </a:custGeom>
          <a:blipFill>
            <a:blip r:embed="rId2"/>
            <a:stretch>
              <a:fillRect l="-2748" t="0" r="-1805" b="0"/>
            </a:stretch>
          </a:blipFill>
        </p:spPr>
      </p:sp>
      <p:sp>
        <p:nvSpPr>
          <p:cNvPr name="TextBox 6" id="6"/>
          <p:cNvSpPr txBox="true"/>
          <p:nvPr/>
        </p:nvSpPr>
        <p:spPr>
          <a:xfrm rot="0">
            <a:off x="1028700" y="437902"/>
            <a:ext cx="16926068" cy="2362142"/>
          </a:xfrm>
          <a:prstGeom prst="rect">
            <a:avLst/>
          </a:prstGeom>
        </p:spPr>
        <p:txBody>
          <a:bodyPr anchor="t" rtlCol="false" tIns="0" lIns="0" bIns="0" rIns="0">
            <a:spAutoFit/>
          </a:bodyPr>
          <a:lstStyle/>
          <a:p>
            <a:pPr algn="l">
              <a:lnSpc>
                <a:spcPts val="9453"/>
              </a:lnSpc>
              <a:spcBef>
                <a:spcPct val="0"/>
              </a:spcBef>
            </a:pPr>
            <a:r>
              <a:rPr lang="en-US" b="true" sz="6752">
                <a:solidFill>
                  <a:srgbClr val="3E4437"/>
                </a:solidFill>
                <a:latin typeface="Montserrat Bold"/>
                <a:ea typeface="Montserrat Bold"/>
                <a:cs typeface="Montserrat Bold"/>
                <a:sym typeface="Montserrat Bold"/>
              </a:rPr>
              <a:t>8.WHAT ARE THE MOST COMMON FITNESS GOALS AMONG USERS</a:t>
            </a:r>
          </a:p>
        </p:txBody>
      </p:sp>
      <p:sp>
        <p:nvSpPr>
          <p:cNvPr name="TextBox 7" id="7"/>
          <p:cNvSpPr txBox="true"/>
          <p:nvPr/>
        </p:nvSpPr>
        <p:spPr>
          <a:xfrm rot="0">
            <a:off x="1381994" y="3305893"/>
            <a:ext cx="13820740" cy="5483975"/>
          </a:xfrm>
          <a:prstGeom prst="rect">
            <a:avLst/>
          </a:prstGeom>
        </p:spPr>
        <p:txBody>
          <a:bodyPr anchor="t" rtlCol="false" tIns="0" lIns="0" bIns="0" rIns="0">
            <a:spAutoFit/>
          </a:bodyPr>
          <a:lstStyle/>
          <a:p>
            <a:pPr algn="l">
              <a:lnSpc>
                <a:spcPts val="4357"/>
              </a:lnSpc>
            </a:pPr>
            <a:r>
              <a:rPr lang="en-US" sz="3112" b="true">
                <a:solidFill>
                  <a:srgbClr val="3E4437"/>
                </a:solidFill>
                <a:latin typeface="Montserrat Bold"/>
                <a:ea typeface="Montserrat Bold"/>
                <a:cs typeface="Montserrat Bold"/>
                <a:sym typeface="Montserrat Bold"/>
              </a:rPr>
              <a:t>Fitness GoalCount : </a:t>
            </a:r>
          </a:p>
          <a:p>
            <a:pPr algn="l" marL="672000" indent="-336000" lvl="1">
              <a:lnSpc>
                <a:spcPts val="4357"/>
              </a:lnSpc>
              <a:buAutoNum type="arabicPeriod" startAt="1"/>
            </a:pPr>
            <a:r>
              <a:rPr lang="en-US" b="true" sz="3112">
                <a:solidFill>
                  <a:srgbClr val="3E4437"/>
                </a:solidFill>
                <a:latin typeface="Montserrat Bold"/>
                <a:ea typeface="Montserrat Bold"/>
                <a:cs typeface="Montserrat Bold"/>
                <a:sym typeface="Montserrat Bold"/>
              </a:rPr>
              <a:t>Endurance - [</a:t>
            </a:r>
            <a:r>
              <a:rPr lang="en-US" b="true" sz="3112">
                <a:solidFill>
                  <a:srgbClr val="3E4437"/>
                </a:solidFill>
                <a:latin typeface="Montserrat Bold"/>
                <a:ea typeface="Montserrat Bold"/>
                <a:cs typeface="Montserrat Bold"/>
                <a:sym typeface="Montserrat Bold"/>
              </a:rPr>
              <a:t>350]</a:t>
            </a:r>
          </a:p>
          <a:p>
            <a:pPr algn="l" marL="672000" indent="-336000" lvl="1">
              <a:lnSpc>
                <a:spcPts val="4357"/>
              </a:lnSpc>
              <a:buAutoNum type="arabicPeriod" startAt="1"/>
            </a:pPr>
            <a:r>
              <a:rPr lang="en-US" b="true" sz="3112">
                <a:solidFill>
                  <a:srgbClr val="3E4437"/>
                </a:solidFill>
                <a:latin typeface="Montserrat Bold"/>
                <a:ea typeface="Montserrat Bold"/>
                <a:cs typeface="Montserrat Bold"/>
                <a:sym typeface="Montserrat Bold"/>
              </a:rPr>
              <a:t>Flexibility - [274]</a:t>
            </a:r>
          </a:p>
          <a:p>
            <a:pPr algn="l" marL="672000" indent="-336000" lvl="1">
              <a:lnSpc>
                <a:spcPts val="4357"/>
              </a:lnSpc>
              <a:buAutoNum type="arabicPeriod" startAt="1"/>
            </a:pPr>
            <a:r>
              <a:rPr lang="en-US" b="true" sz="3112">
                <a:solidFill>
                  <a:srgbClr val="3E4437"/>
                </a:solidFill>
                <a:latin typeface="Montserrat Bold"/>
                <a:ea typeface="Montserrat Bold"/>
                <a:cs typeface="Montserrat Bold"/>
                <a:sym typeface="Montserrat Bold"/>
              </a:rPr>
              <a:t>General Fitness - [764]</a:t>
            </a:r>
          </a:p>
          <a:p>
            <a:pPr algn="l" marL="672000" indent="-336000" lvl="1">
              <a:lnSpc>
                <a:spcPts val="4357"/>
              </a:lnSpc>
              <a:buAutoNum type="arabicPeriod" startAt="1"/>
            </a:pPr>
            <a:r>
              <a:rPr lang="en-US" b="true" sz="3112">
                <a:solidFill>
                  <a:srgbClr val="3E4437"/>
                </a:solidFill>
                <a:latin typeface="Montserrat Bold"/>
                <a:ea typeface="Montserrat Bold"/>
                <a:cs typeface="Montserrat Bold"/>
                <a:sym typeface="Montserrat Bold"/>
              </a:rPr>
              <a:t>Muscle Gain - [500]</a:t>
            </a:r>
          </a:p>
          <a:p>
            <a:pPr algn="l" marL="672000" indent="-336000" lvl="1">
              <a:lnSpc>
                <a:spcPts val="4357"/>
              </a:lnSpc>
              <a:buAutoNum type="arabicPeriod" startAt="1"/>
            </a:pPr>
            <a:r>
              <a:rPr lang="en-US" b="true" sz="3112">
                <a:solidFill>
                  <a:srgbClr val="3E4437"/>
                </a:solidFill>
                <a:latin typeface="Montserrat Bold"/>
                <a:ea typeface="Montserrat Bold"/>
                <a:cs typeface="Montserrat Bold"/>
                <a:sym typeface="Montserrat Bold"/>
              </a:rPr>
              <a:t>Weight Loss - [612]</a:t>
            </a:r>
          </a:p>
          <a:p>
            <a:pPr algn="ctr">
              <a:lnSpc>
                <a:spcPts val="4357"/>
              </a:lnSpc>
            </a:pPr>
          </a:p>
          <a:p>
            <a:pPr algn="l">
              <a:lnSpc>
                <a:spcPts val="4357"/>
              </a:lnSpc>
            </a:pPr>
            <a:r>
              <a:rPr lang="en-US" sz="3112" b="true">
                <a:solidFill>
                  <a:srgbClr val="3E4437"/>
                </a:solidFill>
                <a:latin typeface="Montserrat Bold"/>
                <a:ea typeface="Montserrat Bold"/>
                <a:cs typeface="Montserrat Bold"/>
                <a:sym typeface="Montserrat Bold"/>
              </a:rPr>
              <a:t>Key Finding : </a:t>
            </a:r>
          </a:p>
          <a:p>
            <a:pPr algn="ctr">
              <a:lnSpc>
                <a:spcPts val="4357"/>
              </a:lnSpc>
            </a:pPr>
            <a:r>
              <a:rPr lang="en-US" sz="3112" b="true">
                <a:solidFill>
                  <a:srgbClr val="3E4437"/>
                </a:solidFill>
                <a:latin typeface="Montserrat Bold"/>
                <a:ea typeface="Montserrat Bold"/>
                <a:cs typeface="Montserrat Bold"/>
                <a:sym typeface="Montserrat Bold"/>
              </a:rPr>
              <a:t>General Fitness is the most common fitness goal with 764 records.</a:t>
            </a:r>
          </a:p>
          <a:p>
            <a:pPr algn="ctr">
              <a:lnSpc>
                <a:spcPts val="4357"/>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820240" y="1712043"/>
            <a:ext cx="9498209" cy="6805764"/>
          </a:xfrm>
          <a:prstGeom prst="rect">
            <a:avLst/>
          </a:prstGeom>
        </p:spPr>
        <p:txBody>
          <a:bodyPr anchor="t" rtlCol="false" tIns="0" lIns="0" bIns="0" rIns="0">
            <a:spAutoFit/>
          </a:bodyPr>
          <a:lstStyle/>
          <a:p>
            <a:pPr algn="l">
              <a:lnSpc>
                <a:spcPts val="4154"/>
              </a:lnSpc>
            </a:pPr>
            <a:r>
              <a:rPr lang="en-US" sz="2967" b="true">
                <a:solidFill>
                  <a:srgbClr val="3E4437"/>
                </a:solidFill>
                <a:latin typeface="Montserrat Bold"/>
                <a:ea typeface="Montserrat Bold"/>
                <a:cs typeface="Montserrat Bold"/>
                <a:sym typeface="Montserrat Bold"/>
              </a:rPr>
              <a:t>Key Insights : </a:t>
            </a:r>
          </a:p>
          <a:p>
            <a:pPr algn="l" marL="640674" indent="-320337" lvl="1">
              <a:lnSpc>
                <a:spcPts val="4154"/>
              </a:lnSpc>
              <a:buFont typeface="Arial"/>
              <a:buChar char="•"/>
            </a:pPr>
            <a:r>
              <a:rPr lang="en-US" b="true" sz="2967">
                <a:solidFill>
                  <a:srgbClr val="3E4437"/>
                </a:solidFill>
                <a:latin typeface="Montserrat Bold"/>
                <a:ea typeface="Montserrat Bold"/>
                <a:cs typeface="Montserrat Bold"/>
                <a:sym typeface="Montserrat Bold"/>
              </a:rPr>
              <a:t>Walking is the most preferred workout type.</a:t>
            </a:r>
          </a:p>
          <a:p>
            <a:pPr algn="l" marL="640674" indent="-320337" lvl="1">
              <a:lnSpc>
                <a:spcPts val="4154"/>
              </a:lnSpc>
              <a:buFont typeface="Arial"/>
              <a:buChar char="•"/>
            </a:pPr>
            <a:r>
              <a:rPr lang="en-US" b="true" sz="2967">
                <a:solidFill>
                  <a:srgbClr val="3E4437"/>
                </a:solidFill>
                <a:latin typeface="Montserrat Bold"/>
                <a:ea typeface="Montserrat Bold"/>
                <a:cs typeface="Montserrat Bold"/>
                <a:sym typeface="Montserrat Bold"/>
              </a:rPr>
              <a:t>Running has the highest average calorie burn.</a:t>
            </a:r>
          </a:p>
          <a:p>
            <a:pPr algn="l" marL="640674" indent="-320337" lvl="1">
              <a:lnSpc>
                <a:spcPts val="4154"/>
              </a:lnSpc>
              <a:buFont typeface="Arial"/>
              <a:buChar char="•"/>
            </a:pPr>
            <a:r>
              <a:rPr lang="en-US" b="true" sz="2967">
                <a:solidFill>
                  <a:srgbClr val="3E4437"/>
                </a:solidFill>
                <a:latin typeface="Montserrat Bold"/>
                <a:ea typeface="Montserrat Bold"/>
                <a:cs typeface="Montserrat Bold"/>
                <a:sym typeface="Montserrat Bold"/>
              </a:rPr>
              <a:t>FT2082 has the highest active minutes among the selected users.</a:t>
            </a:r>
          </a:p>
          <a:p>
            <a:pPr algn="l" marL="640674" indent="-320337" lvl="1">
              <a:lnSpc>
                <a:spcPts val="4154"/>
              </a:lnSpc>
              <a:buFont typeface="Arial"/>
              <a:buChar char="•"/>
            </a:pPr>
            <a:r>
              <a:rPr lang="en-US" b="true" sz="2967">
                <a:solidFill>
                  <a:srgbClr val="3E4437"/>
                </a:solidFill>
                <a:latin typeface="Montserrat Bold"/>
                <a:ea typeface="Montserrat Bold"/>
                <a:cs typeface="Montserrat Bold"/>
                <a:sym typeface="Montserrat Bold"/>
              </a:rPr>
              <a:t>June has the highest total water intake.</a:t>
            </a:r>
          </a:p>
          <a:p>
            <a:pPr algn="l" marL="640674" indent="-320337" lvl="1">
              <a:lnSpc>
                <a:spcPts val="4154"/>
              </a:lnSpc>
              <a:buFont typeface="Arial"/>
              <a:buChar char="•"/>
            </a:pPr>
            <a:r>
              <a:rPr lang="en-US" b="true" sz="2967">
                <a:solidFill>
                  <a:srgbClr val="3E4437"/>
                </a:solidFill>
                <a:latin typeface="Montserrat Bold"/>
                <a:ea typeface="Montserrat Bold"/>
                <a:cs typeface="Montserrat Bold"/>
                <a:sym typeface="Montserrat Bold"/>
              </a:rPr>
              <a:t>General Fitness is the most common fitness goal.</a:t>
            </a:r>
          </a:p>
          <a:p>
            <a:pPr algn="l" marL="640674" indent="-320337" lvl="1">
              <a:lnSpc>
                <a:spcPts val="4154"/>
              </a:lnSpc>
              <a:buFont typeface="Arial"/>
              <a:buChar char="•"/>
            </a:pPr>
            <a:r>
              <a:rPr lang="en-US" b="true" sz="2967">
                <a:solidFill>
                  <a:srgbClr val="3E4437"/>
                </a:solidFill>
                <a:latin typeface="Montserrat Bold"/>
                <a:ea typeface="Montserrat Bold"/>
                <a:cs typeface="Montserrat Bold"/>
                <a:sym typeface="Montserrat Bold"/>
              </a:rPr>
              <a:t>Running has the highest average heart rate.</a:t>
            </a:r>
          </a:p>
          <a:p>
            <a:pPr algn="l" marL="640674" indent="-320337" lvl="1">
              <a:lnSpc>
                <a:spcPts val="4154"/>
              </a:lnSpc>
              <a:buFont typeface="Arial"/>
              <a:buChar char="•"/>
            </a:pPr>
            <a:r>
              <a:rPr lang="en-US" b="true" sz="2967">
                <a:solidFill>
                  <a:srgbClr val="3E4437"/>
                </a:solidFill>
                <a:latin typeface="Montserrat Bold"/>
                <a:ea typeface="Montserrat Bold"/>
                <a:cs typeface="Montserrat Bold"/>
                <a:sym typeface="Montserrat Bold"/>
              </a:rPr>
              <a:t>The 28–37 age group has the highest number of records.</a:t>
            </a:r>
          </a:p>
          <a:p>
            <a:pPr algn="l">
              <a:lnSpc>
                <a:spcPts val="4154"/>
              </a:lnSpc>
              <a:spcBef>
                <a:spcPct val="0"/>
              </a:spcBef>
            </a:pPr>
          </a:p>
        </p:txBody>
      </p:sp>
      <p:sp>
        <p:nvSpPr>
          <p:cNvPr name="Freeform 6" id="6"/>
          <p:cNvSpPr/>
          <p:nvPr/>
        </p:nvSpPr>
        <p:spPr>
          <a:xfrm flipH="false" flipV="false" rot="0">
            <a:off x="10560959" y="2370795"/>
            <a:ext cx="7393809" cy="4929206"/>
          </a:xfrm>
          <a:custGeom>
            <a:avLst/>
            <a:gdLst/>
            <a:ahLst/>
            <a:cxnLst/>
            <a:rect r="r" b="b" t="t" l="l"/>
            <a:pathLst>
              <a:path h="4929206" w="7393809">
                <a:moveTo>
                  <a:pt x="0" y="0"/>
                </a:moveTo>
                <a:lnTo>
                  <a:pt x="7393809" y="0"/>
                </a:lnTo>
                <a:lnTo>
                  <a:pt x="7393809" y="4929206"/>
                </a:lnTo>
                <a:lnTo>
                  <a:pt x="0" y="4929206"/>
                </a:lnTo>
                <a:lnTo>
                  <a:pt x="0" y="0"/>
                </a:lnTo>
                <a:close/>
              </a:path>
            </a:pathLst>
          </a:custGeom>
          <a:blipFill>
            <a:blip r:embed="rId2"/>
            <a:stretch>
              <a:fillRect l="0" t="0" r="0" b="0"/>
            </a:stretch>
          </a:blipFill>
        </p:spPr>
      </p:sp>
      <p:sp>
        <p:nvSpPr>
          <p:cNvPr name="TextBox 7" id="7"/>
          <p:cNvSpPr txBox="true"/>
          <p:nvPr/>
        </p:nvSpPr>
        <p:spPr>
          <a:xfrm rot="0">
            <a:off x="820240" y="381029"/>
            <a:ext cx="16926068" cy="1161992"/>
          </a:xfrm>
          <a:prstGeom prst="rect">
            <a:avLst/>
          </a:prstGeom>
        </p:spPr>
        <p:txBody>
          <a:bodyPr anchor="t" rtlCol="false" tIns="0" lIns="0" bIns="0" rIns="0">
            <a:spAutoFit/>
          </a:bodyPr>
          <a:lstStyle/>
          <a:p>
            <a:pPr algn="l">
              <a:lnSpc>
                <a:spcPts val="9453"/>
              </a:lnSpc>
              <a:spcBef>
                <a:spcPct val="0"/>
              </a:spcBef>
            </a:pPr>
            <a:r>
              <a:rPr lang="en-US" b="true" sz="6752">
                <a:solidFill>
                  <a:srgbClr val="3E4437"/>
                </a:solidFill>
                <a:latin typeface="Montserrat Bold"/>
                <a:ea typeface="Montserrat Bold"/>
                <a:cs typeface="Montserrat Bold"/>
                <a:sym typeface="Montserrat Bold"/>
              </a:rPr>
              <a:t>OVERALL KEY INSIGHTS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1458" y="-514350"/>
            <a:ext cx="1889189" cy="7218697"/>
            <a:chOff x="0" y="0"/>
            <a:chExt cx="497564" cy="1901221"/>
          </a:xfrm>
        </p:grpSpPr>
        <p:sp>
          <p:nvSpPr>
            <p:cNvPr name="Freeform 3" id="3"/>
            <p:cNvSpPr/>
            <p:nvPr/>
          </p:nvSpPr>
          <p:spPr>
            <a:xfrm flipH="false" flipV="false" rot="0">
              <a:off x="0" y="0"/>
              <a:ext cx="497564" cy="1901221"/>
            </a:xfrm>
            <a:custGeom>
              <a:avLst/>
              <a:gdLst/>
              <a:ahLst/>
              <a:cxnLst/>
              <a:rect r="r" b="b" t="t" l="l"/>
              <a:pathLst>
                <a:path h="1901221" w="497564">
                  <a:moveTo>
                    <a:pt x="0" y="0"/>
                  </a:moveTo>
                  <a:lnTo>
                    <a:pt x="497564" y="0"/>
                  </a:lnTo>
                  <a:lnTo>
                    <a:pt x="497564" y="1901221"/>
                  </a:lnTo>
                  <a:lnTo>
                    <a:pt x="0" y="1901221"/>
                  </a:lnTo>
                  <a:close/>
                </a:path>
              </a:pathLst>
            </a:custGeom>
            <a:solidFill>
              <a:srgbClr val="3E4437"/>
            </a:solidFill>
          </p:spPr>
        </p:sp>
        <p:sp>
          <p:nvSpPr>
            <p:cNvPr name="TextBox 4" id="4"/>
            <p:cNvSpPr txBox="true"/>
            <p:nvPr/>
          </p:nvSpPr>
          <p:spPr>
            <a:xfrm>
              <a:off x="0" y="-38100"/>
              <a:ext cx="497564" cy="1939321"/>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0569730" y="1900649"/>
            <a:ext cx="7345185" cy="4194520"/>
          </a:xfrm>
          <a:custGeom>
            <a:avLst/>
            <a:gdLst/>
            <a:ahLst/>
            <a:cxnLst/>
            <a:rect r="r" b="b" t="t" l="l"/>
            <a:pathLst>
              <a:path h="4194520" w="7345185">
                <a:moveTo>
                  <a:pt x="0" y="0"/>
                </a:moveTo>
                <a:lnTo>
                  <a:pt x="7345186" y="0"/>
                </a:lnTo>
                <a:lnTo>
                  <a:pt x="7345186" y="4194520"/>
                </a:lnTo>
                <a:lnTo>
                  <a:pt x="0" y="4194520"/>
                </a:lnTo>
                <a:lnTo>
                  <a:pt x="0" y="0"/>
                </a:lnTo>
                <a:close/>
              </a:path>
            </a:pathLst>
          </a:custGeom>
          <a:blipFill>
            <a:blip r:embed="rId2"/>
            <a:stretch>
              <a:fillRect l="0" t="-1274" r="0" b="-1274"/>
            </a:stretch>
          </a:blipFill>
        </p:spPr>
      </p:sp>
      <p:sp>
        <p:nvSpPr>
          <p:cNvPr name="TextBox 6" id="6"/>
          <p:cNvSpPr txBox="true"/>
          <p:nvPr/>
        </p:nvSpPr>
        <p:spPr>
          <a:xfrm rot="0">
            <a:off x="1256893" y="274907"/>
            <a:ext cx="16926068" cy="1161992"/>
          </a:xfrm>
          <a:prstGeom prst="rect">
            <a:avLst/>
          </a:prstGeom>
        </p:spPr>
        <p:txBody>
          <a:bodyPr anchor="t" rtlCol="false" tIns="0" lIns="0" bIns="0" rIns="0">
            <a:spAutoFit/>
          </a:bodyPr>
          <a:lstStyle/>
          <a:p>
            <a:pPr algn="l">
              <a:lnSpc>
                <a:spcPts val="9453"/>
              </a:lnSpc>
              <a:spcBef>
                <a:spcPct val="0"/>
              </a:spcBef>
            </a:pPr>
            <a:r>
              <a:rPr lang="en-US" b="true" sz="6752">
                <a:solidFill>
                  <a:srgbClr val="3E4437"/>
                </a:solidFill>
                <a:latin typeface="Montserrat Bold"/>
                <a:ea typeface="Montserrat Bold"/>
                <a:cs typeface="Montserrat Bold"/>
                <a:sym typeface="Montserrat Bold"/>
              </a:rPr>
              <a:t>CONCLUSIONS</a:t>
            </a:r>
          </a:p>
        </p:txBody>
      </p:sp>
      <p:sp>
        <p:nvSpPr>
          <p:cNvPr name="TextBox 7" id="7"/>
          <p:cNvSpPr txBox="true"/>
          <p:nvPr/>
        </p:nvSpPr>
        <p:spPr>
          <a:xfrm rot="0">
            <a:off x="1028700" y="1617209"/>
            <a:ext cx="9541030" cy="5441986"/>
          </a:xfrm>
          <a:prstGeom prst="rect">
            <a:avLst/>
          </a:prstGeom>
        </p:spPr>
        <p:txBody>
          <a:bodyPr anchor="t" rtlCol="false" tIns="0" lIns="0" bIns="0" rIns="0">
            <a:spAutoFit/>
          </a:bodyPr>
          <a:lstStyle/>
          <a:p>
            <a:pPr algn="l" marL="665621" indent="-332811" lvl="1">
              <a:lnSpc>
                <a:spcPts val="4316"/>
              </a:lnSpc>
              <a:buFont typeface="Arial"/>
              <a:buChar char="•"/>
            </a:pPr>
            <a:r>
              <a:rPr lang="en-US" b="true" sz="3083">
                <a:solidFill>
                  <a:srgbClr val="3E4437"/>
                </a:solidFill>
                <a:latin typeface="Montserrat Bold"/>
                <a:ea typeface="Montserrat Bold"/>
                <a:cs typeface="Montserrat Bold"/>
                <a:sym typeface="Montserrat Bold"/>
              </a:rPr>
              <a:t>The Fitness Tracker dashboard provides a clear view of fitness and wellness patterns.</a:t>
            </a:r>
          </a:p>
          <a:p>
            <a:pPr algn="l" marL="665621" indent="-332811" lvl="1">
              <a:lnSpc>
                <a:spcPts val="4316"/>
              </a:lnSpc>
              <a:buFont typeface="Arial"/>
              <a:buChar char="•"/>
            </a:pPr>
            <a:r>
              <a:rPr lang="en-US" b="true" sz="3083">
                <a:solidFill>
                  <a:srgbClr val="3E4437"/>
                </a:solidFill>
                <a:latin typeface="Montserrat Bold"/>
                <a:ea typeface="Montserrat Bold"/>
                <a:cs typeface="Montserrat Bold"/>
                <a:sym typeface="Montserrat Bold"/>
              </a:rPr>
              <a:t>KPIs give a quick summary of overall performance.</a:t>
            </a:r>
          </a:p>
          <a:p>
            <a:pPr algn="l" marL="665621" indent="-332811" lvl="1">
              <a:lnSpc>
                <a:spcPts val="4316"/>
              </a:lnSpc>
              <a:buFont typeface="Arial"/>
              <a:buChar char="•"/>
            </a:pPr>
            <a:r>
              <a:rPr lang="en-US" b="true" sz="3083">
                <a:solidFill>
                  <a:srgbClr val="3E4437"/>
                </a:solidFill>
                <a:latin typeface="Montserrat Bold"/>
                <a:ea typeface="Montserrat Bold"/>
                <a:cs typeface="Montserrat Bold"/>
                <a:sym typeface="Montserrat Bold"/>
              </a:rPr>
              <a:t>Pivot tables and charts help compare workouts, users, gender, age groups, months and fitness goals.</a:t>
            </a:r>
          </a:p>
          <a:p>
            <a:pPr algn="l" marL="665621" indent="-332811" lvl="1">
              <a:lnSpc>
                <a:spcPts val="4316"/>
              </a:lnSpc>
              <a:buFont typeface="Arial"/>
              <a:buChar char="•"/>
            </a:pPr>
            <a:r>
              <a:rPr lang="en-US" b="true" sz="3083">
                <a:solidFill>
                  <a:srgbClr val="3E4437"/>
                </a:solidFill>
                <a:latin typeface="Montserrat Bold"/>
                <a:ea typeface="Montserrat Bold"/>
                <a:cs typeface="Montserrat Bold"/>
                <a:sym typeface="Montserrat Bold"/>
              </a:rPr>
              <a:t>The analysis helps identify important patterns in activity, health and lifestyle</a:t>
            </a:r>
          </a:p>
          <a:p>
            <a:pPr algn="l">
              <a:lnSpc>
                <a:spcPts val="4316"/>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DAHW9g1uB1U</dc:identifier>
  <dcterms:modified xsi:type="dcterms:W3CDTF">2011-08-01T06:04:30Z</dcterms:modified>
  <cp:revision>1</cp:revision>
  <dc:title>Anudip</dc:title>
</cp:coreProperties>
</file>